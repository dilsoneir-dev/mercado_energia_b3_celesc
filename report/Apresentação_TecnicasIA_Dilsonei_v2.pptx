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62" r:id="rId5"/>
    <p:sldId id="261" r:id="rId6"/>
    <p:sldId id="264" r:id="rId7"/>
    <p:sldId id="266" r:id="rId8"/>
    <p:sldId id="268" r:id="rId9"/>
    <p:sldId id="269" r:id="rId10"/>
    <p:sldId id="270" r:id="rId11"/>
    <p:sldId id="271" r:id="rId12"/>
    <p:sldId id="272" r:id="rId13"/>
    <p:sldId id="273" r:id="rId1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Relationship Id="rId19" Type="http://schemas.openxmlformats.org/officeDocument/2006/relationships/slide" Target="slides/slide13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1"/>
  <c:style val="2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0E3B43"/>
                </a:solidFill>
                <a:latin typeface="Calibri"/>
              </a:defRPr>
            </a:pPr>
            <a:r>
              <a:rPr lang="pt-BR" sz="1400" b="0" i="0" u="none" strike="noStrike">
                <a:solidFill>
                  <a:srgbClr val="0E3B43"/>
                </a:solidFill>
                <a:latin typeface="Calibri"/>
              </a:rPr>
              <a:t>Validação walk-forward: MAPE médio em 21 janelas (2005–2025)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MAPE médio (%)</c:v>
                </c:pt>
              </c:strCache>
            </c:strRef>
          </c:tx>
          <c:spPr>
            <a:solidFill>
              <a:srgbClr val="2E7D86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AD3D-48A4-9FD5-3EE4F24A08CC}"/>
              </c:ext>
            </c:extLst>
          </c:dPt>
          <c:dPt>
            <c:idx val="1"/>
            <c:invertIfNegative val="0"/>
            <c:bubble3D val="0"/>
            <c:spPr>
              <a:solidFill>
                <a:srgbClr val="7FB3B9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AD3D-48A4-9FD5-3EE4F24A08CC}"/>
              </c:ext>
            </c:extLst>
          </c:dPt>
          <c:dPt>
            <c:idx val="2"/>
            <c:invertIfNegative val="0"/>
            <c:bubble3D val="0"/>
            <c:spPr>
              <a:solidFill>
                <a:srgbClr val="E8A33D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AD3D-48A4-9FD5-3EE4F24A08CC}"/>
              </c:ext>
            </c:extLst>
          </c:dPt>
          <c:dLbls>
            <c:numFmt formatCode="0.0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400" b="1" i="0" u="none" strike="noStrike">
                    <a:solidFill>
                      <a:srgbClr val="1F2A2E"/>
                    </a:solidFill>
                    <a:latin typeface="Arial"/>
                  </a:defRPr>
                </a:pPr>
                <a:endParaRPr lang="pt-B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Holt-Winters</c:v>
                </c:pt>
                <c:pt idx="1">
                  <c:v>Gradient Boosting</c:v>
                </c:pt>
                <c:pt idx="2">
                  <c:v>LSTM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9.01</c:v>
                </c:pt>
                <c:pt idx="1">
                  <c:v>10.19</c:v>
                </c:pt>
                <c:pt idx="2">
                  <c:v>12.84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AD3D-48A4-9FD5-3EE4F24A08CC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1F2A2E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5"/>
          <c:min val="0"/>
        </c:scaling>
        <c:delete val="0"/>
        <c:axPos val="l"/>
        <c:majorGridlines>
          <c:spPr>
            <a:ln w="9525" cap="flat">
              <a:solidFill>
                <a:srgbClr val="E3E9EA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B7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5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E3B43"/>
                </a:solidFill>
                <a:latin typeface="Calibri"/>
              </a:defRPr>
            </a:pPr>
            <a:r>
              <a:rPr lang="pt-BR" sz="1300" b="0" i="0" u="none" strike="noStrike">
                <a:solidFill>
                  <a:srgbClr val="0E3B43"/>
                </a:solidFill>
                <a:latin typeface="Calibri"/>
              </a:rPr>
              <a:t>Economia média do Livre frente ao Cativo (abr/2026–dez/2030)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Economia média (%)</c:v>
                </c:pt>
              </c:strCache>
            </c:strRef>
          </c:tx>
          <c:spPr>
            <a:solidFill>
              <a:srgbClr val="9FB7BB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DE8D-4269-818C-867F037DA5D0}"/>
              </c:ext>
            </c:extLst>
          </c:dPt>
          <c:dPt>
            <c:idx val="1"/>
            <c:invertIfNegative val="0"/>
            <c:bubble3D val="0"/>
            <c:spPr>
              <a:solidFill>
                <a:srgbClr val="2E7D8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DE8D-4269-818C-867F037DA5D0}"/>
              </c:ext>
            </c:extLst>
          </c:dPt>
          <c:dPt>
            <c:idx val="2"/>
            <c:invertIfNegative val="0"/>
            <c:bubble3D val="0"/>
            <c:spPr>
              <a:solidFill>
                <a:srgbClr val="0E3B43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DE8D-4269-818C-867F037DA5D0}"/>
              </c:ext>
            </c:extLst>
          </c:dPt>
          <c:dPt>
            <c:idx val="3"/>
            <c:invertIfNegative val="0"/>
            <c:bubble3D val="0"/>
            <c:spPr>
              <a:solidFill>
                <a:srgbClr val="E8A33D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DE8D-4269-818C-867F037DA5D0}"/>
              </c:ext>
            </c:extLst>
          </c:dPt>
          <c:dLbls>
            <c:numFmt formatCode="0.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400" b="1" i="0" u="none" strike="noStrike">
                    <a:solidFill>
                      <a:srgbClr val="1F2A2E"/>
                    </a:solidFill>
                    <a:latin typeface="Arial"/>
                  </a:defRPr>
                </a:pPr>
                <a:endParaRPr lang="pt-B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Sem encargos</c:v>
                </c:pt>
                <c:pt idx="1">
                  <c:v>Otimista</c:v>
                </c:pt>
                <c:pt idx="2">
                  <c:v>Base</c:v>
                </c:pt>
                <c:pt idx="3">
                  <c:v>Pessimista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24.8</c:v>
                </c:pt>
                <c:pt idx="1">
                  <c:v>19.7</c:v>
                </c:pt>
                <c:pt idx="2">
                  <c:v>15</c:v>
                </c:pt>
                <c:pt idx="3">
                  <c:v>4.5999999999999996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DE8D-4269-818C-867F037DA5D0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1F2A2E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30"/>
          <c:min val="0"/>
        </c:scaling>
        <c:delete val="0"/>
        <c:axPos val="l"/>
        <c:majorGridlines>
          <c:spPr>
            <a:ln w="9525" cap="flat">
              <a:solidFill>
                <a:srgbClr val="E3E9EA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7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10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704722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Apresentação do trabalho final da disciplina.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objetivo principal é entender o esforço de trabalhar com dados e treinar redes neurais como o LSTM em bibliotecas existentes, como o TensorFlow. A migração do B3 é a aplicação: o caso que fornece os dados para trabalhar. O roteiro é o fluxo de séries temporais visto em aula.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trabalho tem três partes. Primeiro, os dados de consumo da CELESC, até chegar ao B3 Cativo. Segundo, a rede neural, que avalia o perfil do consumo e o projeta até 2030. Terceiro, a análise econômica. Cada parte corresponde a notebooks do repositório.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filtro IQR calcula o primeiro e o terceiro quartil do consumo por unidade consumidora e descarta o que passa de 1,5 vezes a amplitude interquartil, respeitando limites físicos de 100 a 3.000 kWh por UC por mês. A faixa efetiva ficou entre 100 e 1.484,5 kWh, e 5.409 registros foram removidos. Além do IQR, foram tratadas outras sete anomalias, todas documentadas.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Antes de tratar, a visualização mostrou que o B3 está dentro da classe Comercial, dividida em Cativo e Livre. O Livre cresce com a migração do Grupo A. O Cativo oscila por causa da crise de 2015 e 2016, da pandemia e do recuo recente, ligado à migração e à geração distribuída.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 a série do B3 pronta, a pergunta agora é como será o consumo até 2030 e qual modelo é o mais adequado. A escolha do LSTM parte da hipótese de que fatores não lineares justificariam uma rede neural. O Gradient Boosting é a segunda técnica e o Holt-Winters é a referência estatística.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 janela única, o LSTM teria vencido, mas esse período é atípico. Ao expandir para 21 janelas anuais, o modelo que ganhou na janela não foi o melhor: o Holt-Winters tem o menor erro médio e o LSTM é significativamente pior.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Só agora entram a ANEEL e a CCEE. A tarifa homologada da ANEEL precifica o mercado cativo, e o PLD da CCEE é a referência de preço do mercado livre. Os dois são combinados com o consumo previsto pela rede neural. Tarifa e PLD são estendidos até 2030 com premissas explícitas, que não são previsões oficiais.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Só com a energia, a economia média do Livre seria de 24,8%. Ao migrar, o consumidor deixa de pagar a TE, mas passa a pagar diretamente encargos que no cativo estão embutidos nela. Com eles, a economia cai para 19,7% no cenário otimista, 15,0% no base e 4,6% no pessimista.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validação histórica aplicou os encargos do cenário base a cada ano de 2011 a 2025. Um consumidor B3 exposto ao PLD teria pago mais que no cativo em 7 dos 15 anos, e o pior ano foi 2014. A vantagem projetada depende do regime hidrológico.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desempenho inferior do LSTM é coerente com a série: curta, com tendência e sazonalidade fortes. A rede neural segue promissora com dados de maior resolução, como os horários da medição inteligente, ou com variáveis exógenas, que ficam como trabalhos futuros.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principal aprendizado está no processo: a qualidade da modelagem depende do rigor do tratamento de dados, e o esforço de preparar e validar é muito maior que o de escrever a rede neural.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chart" Target="../charts/chart1.xml"/><Relationship Id="rId4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chart" Target="../charts/char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7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8.png"/><Relationship Id="rId4" Type="http://schemas.openxmlformats.org/officeDocument/2006/relationships/image" Target="../media/image9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3B4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00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IAA68303 · Técnicas de Inteligência Artificial Aplicadas a Sistemas de Energia (2026.3)</a:t>
            </a:r>
            <a:endParaRPr lang="en-US" sz="15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63040"/>
            <a:ext cx="106070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Análise de Dados com Uso de Inteligência Artificial como Ferramenta de Apoio à Migração de Consumidores do Subgrupo B3 para o Mercado Livre de Energia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548640" y="4343400"/>
            <a:ext cx="2011680" cy="0"/>
          </a:xfrm>
          <a:prstGeom prst="line">
            <a:avLst/>
          </a:prstGeom>
          <a:noFill/>
          <a:ln w="25400">
            <a:solidFill>
              <a:srgbClr val="E8A33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 txBox="1"/>
          <p:nvPr/>
        </p:nvSpPr>
        <p:spPr>
          <a:xfrm>
            <a:off x="548640" y="4572000"/>
            <a:ext cx="10058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700" dirty="0">
                <a:solidFill>
                  <a:srgbClr val="CFE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Aluno: Dilsonei José Rigotti</a:t>
            </a:r>
            <a:endParaRPr lang="en-US" sz="17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700" dirty="0">
                <a:solidFill>
                  <a:srgbClr val="CFE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Prof.: Sérgio Luciano Ávila</a:t>
            </a:r>
            <a:endParaRPr lang="en-US" sz="17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700" dirty="0">
                <a:solidFill>
                  <a:srgbClr val="CFE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Mestrado Profissional em Sistemas de Energia Elétrica (MPSEE) · IFSC</a:t>
            </a:r>
            <a:endParaRPr lang="en-US" sz="17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700" dirty="0">
                <a:solidFill>
                  <a:srgbClr val="CFE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Setembro / 2026’</a:t>
            </a:r>
            <a:endParaRPr lang="en-US" sz="1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02336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E3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Objetivos do trabalho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6035040" cy="2509002"/>
          </a:xfrm>
          <a:prstGeom prst="roundRect">
            <a:avLst>
              <a:gd name="adj" fmla="val 2667"/>
            </a:avLst>
          </a:prstGeom>
          <a:solidFill>
            <a:srgbClr val="EAF2F3"/>
          </a:solidFill>
          <a:ln w="12700">
            <a:solidFill>
              <a:srgbClr val="EAF2F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 txBox="1"/>
          <p:nvPr/>
        </p:nvSpPr>
        <p:spPr>
          <a:xfrm>
            <a:off x="822960" y="14630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2E7D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 principal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1810512"/>
            <a:ext cx="5486400" cy="21363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buNone/>
            </a:pPr>
            <a:r>
              <a:rPr lang="en-US" dirty="0" err="1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Estabelecer</a:t>
            </a:r>
            <a:r>
              <a:rPr lang="en-US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um entendimento sobre o esforço </a:t>
            </a:r>
            <a:r>
              <a:rPr lang="en-US" dirty="0" err="1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necessário</a:t>
            </a:r>
            <a:r>
              <a:rPr lang="en-US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dirty="0" err="1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desde</a:t>
            </a:r>
            <a:r>
              <a:rPr lang="en-US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 </a:t>
            </a:r>
            <a:r>
              <a:rPr lang="en-US" dirty="0" err="1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ingestão</a:t>
            </a:r>
            <a:r>
              <a:rPr lang="en-US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dados </a:t>
            </a:r>
            <a:r>
              <a:rPr lang="en-US" dirty="0" err="1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até</a:t>
            </a:r>
            <a:r>
              <a:rPr lang="en-US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 </a:t>
            </a:r>
            <a:r>
              <a:rPr lang="en-US" dirty="0" err="1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avaliação</a:t>
            </a:r>
            <a:r>
              <a:rPr lang="en-US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dos </a:t>
            </a:r>
            <a:r>
              <a:rPr lang="en-US" dirty="0" err="1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resultados</a:t>
            </a:r>
            <a:r>
              <a:rPr lang="en-US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</a:p>
          <a:p>
            <a:pPr marL="0" indent="0" algn="just">
              <a:buNone/>
            </a:pPr>
            <a:endParaRPr lang="en-US" dirty="0">
              <a:solidFill>
                <a:srgbClr val="1F2A2E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 algn="just">
              <a:buNone/>
            </a:pPr>
            <a:r>
              <a:rPr lang="en-US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Este </a:t>
            </a:r>
            <a:r>
              <a:rPr lang="en-US" dirty="0" err="1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trabalho</a:t>
            </a:r>
            <a:r>
              <a:rPr lang="en-US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dirty="0" err="1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considera</a:t>
            </a:r>
            <a:r>
              <a:rPr lang="en-US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 uso de arquiteturas de redes </a:t>
            </a:r>
            <a:r>
              <a:rPr lang="en-US" dirty="0" err="1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neurais</a:t>
            </a:r>
            <a:r>
              <a:rPr lang="en-US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desenvolvidas para criar, treinar e implantar modelos de Aprendizado de Máquina (Machine Learning) e Redes Neurais Profundas (Deep Learning).</a:t>
            </a: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548640" y="4050791"/>
            <a:ext cx="6035040" cy="2136337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9050">
            <a:solidFill>
              <a:srgbClr val="E8A33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 txBox="1"/>
          <p:nvPr/>
        </p:nvSpPr>
        <p:spPr>
          <a:xfrm>
            <a:off x="822960" y="4389120"/>
            <a:ext cx="5486400" cy="1339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2E7D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 secundário: a </a:t>
            </a:r>
            <a:r>
              <a:rPr lang="en-US" sz="1400" b="1" dirty="0" err="1">
                <a:solidFill>
                  <a:srgbClr val="2E7D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aplicação</a:t>
            </a:r>
            <a:endParaRPr lang="en-US" sz="1400" b="1" dirty="0">
              <a:solidFill>
                <a:srgbClr val="2E7D86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spcAft>
                <a:spcPts val="300"/>
              </a:spcAft>
              <a:buNone/>
            </a:pPr>
            <a:endParaRPr lang="en-US" sz="1400" dirty="0"/>
          </a:p>
          <a:p>
            <a:pPr marL="0" indent="0">
              <a:spcAft>
                <a:spcPts val="300"/>
              </a:spcAft>
              <a:buNone/>
            </a:pPr>
            <a:r>
              <a:rPr lang="en-US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 base </a:t>
            </a:r>
            <a:r>
              <a:rPr lang="en-US" dirty="0" err="1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</a:t>
            </a:r>
            <a:r>
              <a:rPr lang="en-US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dirty="0" err="1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projeção</a:t>
            </a:r>
            <a:r>
              <a:rPr lang="en-US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do consumo do </a:t>
            </a:r>
            <a:r>
              <a:rPr lang="en-US" dirty="0" err="1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Subgrupo</a:t>
            </a:r>
            <a:r>
              <a:rPr lang="en-US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B3 (cativo) da CELESC </a:t>
            </a:r>
            <a:r>
              <a:rPr lang="en-US" dirty="0" err="1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até</a:t>
            </a:r>
            <a:r>
              <a:rPr lang="en-US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2030, </a:t>
            </a:r>
            <a:r>
              <a:rPr lang="en-US" dirty="0" err="1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avaliar</a:t>
            </a:r>
            <a:r>
              <a:rPr lang="en-US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 </a:t>
            </a:r>
            <a:r>
              <a:rPr lang="en-US" dirty="0" err="1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oportunidade</a:t>
            </a:r>
            <a:r>
              <a:rPr lang="en-US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para </a:t>
            </a:r>
            <a:r>
              <a:rPr lang="en-US" dirty="0" err="1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migração</a:t>
            </a:r>
            <a:r>
              <a:rPr lang="en-US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cativo </a:t>
            </a:r>
            <a:r>
              <a:rPr lang="en-US" dirty="0" err="1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ao</a:t>
            </a:r>
            <a:r>
              <a:rPr lang="en-US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ACL (Lei nº 15.269/2025, a </a:t>
            </a:r>
            <a:r>
              <a:rPr lang="en-US" dirty="0" err="1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partir</a:t>
            </a:r>
            <a:r>
              <a:rPr lang="en-US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nov/2027).</a:t>
            </a:r>
            <a:endParaRPr lang="en-US" dirty="0"/>
          </a:p>
        </p:txBody>
      </p:sp>
      <p:pic>
        <p:nvPicPr>
          <p:cNvPr id="8" name="Image 0" descr="img/flux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9440" y="1325880"/>
            <a:ext cx="4690872" cy="3959352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6949440" y="5728996"/>
            <a:ext cx="4690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E3B43"/>
                </a:solidFill>
                <a:latin typeface="Cambria" pitchFamily="34" charset="0"/>
                <a:ea typeface="Cambria" pitchFamily="34" charset="-122"/>
              </a:rPr>
              <a:t>Roteiro do </a:t>
            </a:r>
            <a:r>
              <a:rPr lang="en-US" sz="2800" b="1" dirty="0" err="1">
                <a:solidFill>
                  <a:srgbClr val="0E3B43"/>
                </a:solidFill>
                <a:latin typeface="Cambria" pitchFamily="34" charset="0"/>
                <a:ea typeface="Cambria" pitchFamily="34" charset="-122"/>
              </a:rPr>
              <a:t>trabalho</a:t>
            </a:r>
            <a:endParaRPr lang="en-US" sz="1000" dirty="0"/>
          </a:p>
        </p:txBody>
      </p:sp>
      <p:sp>
        <p:nvSpPr>
          <p:cNvPr id="10" name="Text 7"/>
          <p:cNvSpPr txBox="1"/>
          <p:nvPr/>
        </p:nvSpPr>
        <p:spPr>
          <a:xfrm>
            <a:off x="1118585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11" name="Fonte"/>
          <p:cNvSpPr txBox="1"/>
          <p:nvPr/>
        </p:nvSpPr>
        <p:spPr>
          <a:xfrm>
            <a:off x="6949440" y="5340096"/>
            <a:ext cx="4690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i="1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Fonte: adaptado do material de aula da disciplina IAA68303 (Prof. Sérgio L. Ávila).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02336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E3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</a:t>
            </a:r>
            <a:r>
              <a:rPr lang="en-US" sz="2800" b="1" dirty="0" err="1">
                <a:solidFill>
                  <a:srgbClr val="0E3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caminho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3520440" cy="1005840"/>
          </a:xfrm>
          <a:prstGeom prst="roundRect">
            <a:avLst>
              <a:gd name="adj" fmla="val 7273"/>
            </a:avLst>
          </a:prstGeom>
          <a:solidFill>
            <a:srgbClr val="2E7D86"/>
          </a:solidFill>
          <a:ln w="12700">
            <a:solidFill>
              <a:srgbClr val="2E7D8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 txBox="1"/>
          <p:nvPr/>
        </p:nvSpPr>
        <p:spPr>
          <a:xfrm>
            <a:off x="548640" y="1325880"/>
            <a:ext cx="3520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1 · Dados da CELESC</a:t>
            </a:r>
            <a:endParaRPr lang="en-US" sz="1600" dirty="0"/>
          </a:p>
          <a:p>
            <a:pPr marL="0" indent="0" algn="ctr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base bruta ao B3 Cativo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343400" y="1325880"/>
            <a:ext cx="3520440" cy="1005840"/>
          </a:xfrm>
          <a:prstGeom prst="roundRect">
            <a:avLst>
              <a:gd name="adj" fmla="val 7273"/>
            </a:avLst>
          </a:prstGeom>
          <a:solidFill>
            <a:srgbClr val="0E3B43"/>
          </a:solidFill>
          <a:ln w="12700">
            <a:solidFill>
              <a:srgbClr val="0E3B4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 txBox="1"/>
          <p:nvPr/>
        </p:nvSpPr>
        <p:spPr>
          <a:xfrm>
            <a:off x="4343400" y="1325880"/>
            <a:ext cx="3520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2 · Rede neural</a:t>
            </a:r>
            <a:endParaRPr lang="en-US" sz="1600" dirty="0"/>
          </a:p>
          <a:p>
            <a:pPr marL="0" indent="0" algn="ctr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Perfil e previsão do consumo até 2030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138160" y="1325880"/>
            <a:ext cx="3520440" cy="1005840"/>
          </a:xfrm>
          <a:prstGeom prst="roundRect">
            <a:avLst>
              <a:gd name="adj" fmla="val 7273"/>
            </a:avLst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 txBox="1"/>
          <p:nvPr/>
        </p:nvSpPr>
        <p:spPr>
          <a:xfrm>
            <a:off x="8138160" y="1325880"/>
            <a:ext cx="3520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3 · Análise econômica</a:t>
            </a:r>
            <a:endParaRPr lang="en-US" sz="1600" dirty="0"/>
          </a:p>
          <a:p>
            <a:pPr marL="0" indent="0" algn="ctr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Vale migrar? Cativo x Livre</a:t>
            </a:r>
            <a:endParaRPr lang="en-US" sz="16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49284633"/>
              </p:ext>
            </p:extLst>
          </p:nvPr>
        </p:nvGraphicFramePr>
        <p:xfrm>
          <a:off x="548640" y="2606040"/>
          <a:ext cx="11091672" cy="2633472"/>
        </p:xfrm>
        <a:graphic>
          <a:graphicData uri="http://schemas.openxmlformats.org/drawingml/2006/table">
            <a:tbl>
              <a:tblPr/>
              <a:tblGrid>
                <a:gridCol w="4023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1539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3891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Notebook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B4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B4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 que faz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B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00_tratamento_dados_brutos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e 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Lê e saneia os brutos; separa Cativo e Livre; exporta as séries tratadas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01_exploratorio_grupo_b_stl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Explora o Grupo B (B1, B2, B3) e o recorte no B3 Comercial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02_comparacao_modelos_b3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Janelamento; Holt-Winters, LSTM e Gradient Boosting; janela única e walk-forward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03_projecao_consumo_b3_2030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Decomposição STL do B3 e projeção do consumo com LSTM até 2030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04_analise_economica_migracao_acl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Simulação Cativo x Livre, encargos do mercado livre e riscos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0" name="Shape 7"/>
          <p:cNvSpPr/>
          <p:nvPr/>
        </p:nvSpPr>
        <p:spPr>
          <a:xfrm>
            <a:off x="548640" y="5257800"/>
            <a:ext cx="11094415" cy="868680"/>
          </a:xfrm>
          <a:prstGeom prst="roundRect">
            <a:avLst>
              <a:gd name="adj" fmla="val 10526"/>
            </a:avLst>
          </a:prstGeom>
          <a:solidFill>
            <a:srgbClr val="EAF2F3"/>
          </a:solidFill>
          <a:ln w="12700">
            <a:solidFill>
              <a:srgbClr val="EAF2F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Shape 8"/>
          <p:cNvSpPr/>
          <p:nvPr/>
        </p:nvSpPr>
        <p:spPr>
          <a:xfrm>
            <a:off x="731520" y="5472684"/>
            <a:ext cx="438912" cy="438912"/>
          </a:xfrm>
          <a:prstGeom prst="ellipse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Text 9"/>
          <p:cNvSpPr txBox="1"/>
          <p:nvPr/>
        </p:nvSpPr>
        <p:spPr>
          <a:xfrm>
            <a:off x="731520" y="547268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?</a:t>
            </a:r>
            <a:endParaRPr lang="en-US" sz="1800" dirty="0"/>
          </a:p>
        </p:txBody>
      </p:sp>
      <p:sp>
        <p:nvSpPr>
          <p:cNvPr id="13" name="Text 10"/>
          <p:cNvSpPr txBox="1"/>
          <p:nvPr/>
        </p:nvSpPr>
        <p:spPr>
          <a:xfrm>
            <a:off x="1325880" y="5257800"/>
            <a:ext cx="101342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quê separar? </a:t>
            </a:r>
            <a:r>
              <a:rPr lang="en-US" sz="14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análise de consumo (Partes 1 e 2) não depende de tarifa nem de preço de mercado.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564185" y="630936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Repositório público: github.com/dilsoneir-dev/Mercado_Energia_B3_Celesc</a:t>
            </a:r>
            <a:endParaRPr lang="en-US" sz="1050" b="1" dirty="0">
              <a:solidFill>
                <a:srgbClr val="FF0000"/>
              </a:solidFill>
            </a:endParaRPr>
          </a:p>
        </p:txBody>
      </p:sp>
      <p:sp>
        <p:nvSpPr>
          <p:cNvPr id="15" name="Text 12"/>
          <p:cNvSpPr txBox="1"/>
          <p:nvPr/>
        </p:nvSpPr>
        <p:spPr>
          <a:xfrm>
            <a:off x="1118585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02336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E3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Parte 1 · Tratamento: filtro IQR e anomalias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2588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E7D8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5.409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96596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registros removidos pelo filtro IQR (trilha Cativo)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3383280" y="132588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B547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82,6%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3383280" y="196596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linhas duplicadas na trilha Livre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2606040"/>
            <a:ext cx="539496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9050">
            <a:solidFill>
              <a:srgbClr val="E8A33D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 txBox="1"/>
          <p:nvPr/>
        </p:nvSpPr>
        <p:spPr>
          <a:xfrm>
            <a:off x="777240" y="269748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0E3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Filtro IQR (amplitude interquartil)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3063240"/>
            <a:ext cx="4937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e Q3 do consumo por UC; IQR = Q3 − Q1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Limites: Q1 − 1,5 × IQR e Q3 + 1,5 × IQR, restritos aos limites físicos de 100 a 3.000 kWh/UC/mês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Faixa efetiva: 100 a 1.484,5 kWh/UC/mês; o que ficou fora foi removido</a:t>
            </a:r>
            <a:endParaRPr lang="en-US" sz="125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51363903"/>
              </p:ext>
            </p:extLst>
          </p:nvPr>
        </p:nvGraphicFramePr>
        <p:xfrm>
          <a:off x="6217920" y="1371600"/>
          <a:ext cx="5422392" cy="4443984"/>
        </p:xfrm>
        <a:graphic>
          <a:graphicData uri="http://schemas.openxmlformats.org/drawingml/2006/table">
            <a:tbl>
              <a:tblPr/>
              <a:tblGrid>
                <a:gridCol w="28620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9377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Anomalia encontrada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B4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Ação aplicada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B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377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Mercados Cativo e Livre na mesma classe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Duas trilhas separadas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377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82,6% de linhas duplicadas (Livre)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Remoção antes de agregar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377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Nº de UCs repetido em cada linha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Um valor por município e mês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377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Consumo negativo e UCs ≤ 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Descarte e recálculo por UC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9377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Picos atípicos de consumo por UC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FD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Filtro IQR + limites físicos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F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9377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Jan–nov/1994 sem nº de UCs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Período excluído e documentado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9377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Nº de UCs fracionário (2025 em diante)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Arredondamento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9377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Quedas artificiais de UCs em jan/fev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UCs contadas antes do IQR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15" name="Text 12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1 · Etapa 3 · Tratamento dos dados   ·   Relatório: Seção III.A</a:t>
            </a:r>
            <a:endParaRPr lang="en-US" sz="1000" dirty="0"/>
          </a:p>
        </p:txBody>
      </p:sp>
      <p:sp>
        <p:nvSpPr>
          <p:cNvPr id="16" name="Text 13"/>
          <p:cNvSpPr txBox="1"/>
          <p:nvPr/>
        </p:nvSpPr>
        <p:spPr>
          <a:xfrm>
            <a:off x="1118585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02336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E3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Parte 1 · base CELESC</a:t>
            </a:r>
            <a:endParaRPr lang="en-US" sz="2800" dirty="0"/>
          </a:p>
        </p:txBody>
      </p:sp>
      <p:pic>
        <p:nvPicPr>
          <p:cNvPr id="3" name="Image 0" descr="img/cativo_liv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1280160"/>
            <a:ext cx="5468112" cy="318211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6172200" y="4498848"/>
            <a:ext cx="5468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i="1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Consumo da classe Comercial em SC por tipo de contratação, 1994–2025 (GWh/ano). Fonte: o autor, com dados da CELESC [3].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548640" y="5532120"/>
            <a:ext cx="11094415" cy="731520"/>
          </a:xfrm>
          <a:prstGeom prst="roundRect">
            <a:avLst>
              <a:gd name="adj" fmla="val 12500"/>
            </a:avLst>
          </a:prstGeom>
          <a:solidFill>
            <a:srgbClr val="EAF2F3"/>
          </a:solidFill>
          <a:ln w="12700">
            <a:solidFill>
              <a:srgbClr val="EAF2F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Shape 9"/>
          <p:cNvSpPr/>
          <p:nvPr/>
        </p:nvSpPr>
        <p:spPr>
          <a:xfrm>
            <a:off x="731520" y="5678424"/>
            <a:ext cx="438912" cy="438912"/>
          </a:xfrm>
          <a:prstGeom prst="ellipse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Text 10"/>
          <p:cNvSpPr txBox="1"/>
          <p:nvPr/>
        </p:nvSpPr>
        <p:spPr>
          <a:xfrm>
            <a:off x="731520" y="567842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?</a:t>
            </a:r>
            <a:endParaRPr lang="en-US" sz="1800" dirty="0"/>
          </a:p>
        </p:txBody>
      </p:sp>
      <p:sp>
        <p:nvSpPr>
          <p:cNvPr id="14" name="Text 11"/>
          <p:cNvSpPr txBox="1"/>
          <p:nvPr/>
        </p:nvSpPr>
        <p:spPr>
          <a:xfrm>
            <a:off x="1325880" y="5532120"/>
            <a:ext cx="101342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quê? </a:t>
            </a:r>
            <a:r>
              <a:rPr lang="en-US" sz="13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FT e FS mostram quão previsível é cada classe antes de escolher onde aplicar o modelo. Cativo e Livre são separados porque o B3 é 100% cativo até nov/2027: o trabalho segue na parcela comercial que permanece no Cativo.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1 · Etapas 2 e 3 · Visualização e recorte   ·   Relatório: Seções I.B e III.C</a:t>
            </a:r>
            <a:endParaRPr lang="en-US" sz="1000" dirty="0"/>
          </a:p>
        </p:txBody>
      </p:sp>
      <p:sp>
        <p:nvSpPr>
          <p:cNvPr id="16" name="Text 13"/>
          <p:cNvSpPr txBox="1"/>
          <p:nvPr/>
        </p:nvSpPr>
        <p:spPr>
          <a:xfrm>
            <a:off x="1118585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28016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Grupo B: tendência e sazonalidade (STL)</a:t>
            </a:r>
            <a:endParaRPr lang="en-US" sz="15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45920"/>
          <a:ext cx="4965192" cy="1554480"/>
        </p:xfrm>
        <a:graphic>
          <a:graphicData uri="http://schemas.openxmlformats.org/drawingml/2006/table">
            <a:tbl>
              <a:tblPr/>
              <a:tblGrid>
                <a:gridCol w="24048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86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Classe (Grupo B)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B4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B4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B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86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Residencial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0,982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0,834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86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Comercial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FD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0,990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FD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0,870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F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86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Rural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0,930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0,702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" name="Text 2"/>
          <p:cNvSpPr txBox="1"/>
          <p:nvPr/>
        </p:nvSpPr>
        <p:spPr>
          <a:xfrm>
            <a:off x="548640" y="324612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i="1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FT: força da tendência · FS: força da sazonalidade (0 a 1). Fonte: o autor, STL [11].</a:t>
            </a:r>
            <a:endParaRPr lang="en-US" sz="1000" dirty="0"/>
          </a:p>
        </p:txBody>
      </p:sp>
      <p:sp>
        <p:nvSpPr>
          <p:cNvPr id="7" name="Text 3"/>
          <p:cNvSpPr txBox="1"/>
          <p:nvPr/>
        </p:nvSpPr>
        <p:spPr>
          <a:xfrm>
            <a:off x="548640" y="3611880"/>
            <a:ext cx="534924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Comercial tem a maior tendência e sazonalidade do Grupo B; o B3 está dentro dele</a:t>
            </a:r>
            <a:endParaRPr lang="en-US" sz="13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 base, o Comercial é dividido em Cativo e Livre; o Livre (Grupo A já migrado) cresce desde 2016</a:t>
            </a:r>
            <a:endParaRPr lang="en-US" sz="13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Cativo oscila: recessão de 2015–2016, pandemia em 2020 e recuo em 2024–2025 (migração ACL e MMGD)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02336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E3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Parte 2 · A rede neural: escolha, treino e teste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3520440" cy="1874519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9525">
            <a:solidFill>
              <a:srgbClr val="C9D6D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4" name="Shape 2"/>
          <p:cNvSpPr/>
          <p:nvPr/>
        </p:nvSpPr>
        <p:spPr>
          <a:xfrm>
            <a:off x="777240" y="1417320"/>
            <a:ext cx="548640" cy="548640"/>
          </a:xfrm>
          <a:prstGeom prst="ellipse">
            <a:avLst/>
          </a:prstGeom>
          <a:solidFill>
            <a:srgbClr val="0E3B43"/>
          </a:solidFill>
          <a:ln w="12700">
            <a:solidFill>
              <a:srgbClr val="0E3B4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5256" y="1545336"/>
            <a:ext cx="292608" cy="29260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463040" y="138988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0E3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LSTM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1463040" y="173736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B57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Ferramenta avaliada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2194560"/>
            <a:ext cx="3063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Rede neural recorrente (TensorFlow/Keras), feita para aprender dependências de longo prazo em sequências.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343400" y="1280160"/>
            <a:ext cx="3520440" cy="1874519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9525">
            <a:solidFill>
              <a:srgbClr val="C9D6D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0" name="Shape 7"/>
          <p:cNvSpPr/>
          <p:nvPr/>
        </p:nvSpPr>
        <p:spPr>
          <a:xfrm>
            <a:off x="4572000" y="1417320"/>
            <a:ext cx="548640" cy="548640"/>
          </a:xfrm>
          <a:prstGeom prst="ellipse">
            <a:avLst/>
          </a:prstGeom>
          <a:solidFill>
            <a:srgbClr val="2E7D86"/>
          </a:solidFill>
          <a:ln w="12700">
            <a:solidFill>
              <a:srgbClr val="2E7D8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00016" y="1545336"/>
            <a:ext cx="292608" cy="292608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5257800" y="138988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0E3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Gradient Boosting</a:t>
            </a:r>
            <a:endParaRPr lang="en-US" sz="2000" dirty="0"/>
          </a:p>
        </p:txBody>
      </p:sp>
      <p:sp>
        <p:nvSpPr>
          <p:cNvPr id="13" name="Text 9"/>
          <p:cNvSpPr txBox="1"/>
          <p:nvPr/>
        </p:nvSpPr>
        <p:spPr>
          <a:xfrm>
            <a:off x="5257800" y="173736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B57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Segunda técnica de ML</a:t>
            </a:r>
            <a:endParaRPr lang="en-US" sz="1200" dirty="0"/>
          </a:p>
        </p:txBody>
      </p:sp>
      <p:sp>
        <p:nvSpPr>
          <p:cNvPr id="14" name="Text 10"/>
          <p:cNvSpPr txBox="1"/>
          <p:nvPr/>
        </p:nvSpPr>
        <p:spPr>
          <a:xfrm>
            <a:off x="4572000" y="2194560"/>
            <a:ext cx="3063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Conjunto de árvores de decisão; não neural e de menor custo computacional.</a:t>
            </a:r>
            <a:endParaRPr lang="en-US" sz="1400" dirty="0"/>
          </a:p>
        </p:txBody>
      </p:sp>
      <p:sp>
        <p:nvSpPr>
          <p:cNvPr id="15" name="Shape 11"/>
          <p:cNvSpPr/>
          <p:nvPr/>
        </p:nvSpPr>
        <p:spPr>
          <a:xfrm>
            <a:off x="8138160" y="1280160"/>
            <a:ext cx="3520440" cy="1874519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9525">
            <a:solidFill>
              <a:srgbClr val="C9D6D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6" name="Shape 12"/>
          <p:cNvSpPr/>
          <p:nvPr/>
        </p:nvSpPr>
        <p:spPr>
          <a:xfrm>
            <a:off x="8366760" y="1417320"/>
            <a:ext cx="548640" cy="548640"/>
          </a:xfrm>
          <a:prstGeom prst="ellipse">
            <a:avLst/>
          </a:prstGeom>
          <a:solidFill>
            <a:srgbClr val="7FA7AD"/>
          </a:solidFill>
          <a:ln w="12700">
            <a:solidFill>
              <a:srgbClr val="7FA7A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94776" y="1545336"/>
            <a:ext cx="292608" cy="292608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9052560" y="138988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0E3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Holt-Winters</a:t>
            </a:r>
            <a:endParaRPr lang="en-US" sz="2000" dirty="0"/>
          </a:p>
        </p:txBody>
      </p:sp>
      <p:sp>
        <p:nvSpPr>
          <p:cNvPr id="19" name="Text 14"/>
          <p:cNvSpPr txBox="1"/>
          <p:nvPr/>
        </p:nvSpPr>
        <p:spPr>
          <a:xfrm>
            <a:off x="9052560" y="173736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B57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Referência estatística</a:t>
            </a:r>
            <a:endParaRPr lang="en-US" sz="1200" dirty="0"/>
          </a:p>
        </p:txBody>
      </p:sp>
      <p:sp>
        <p:nvSpPr>
          <p:cNvPr id="20" name="Text 15"/>
          <p:cNvSpPr txBox="1"/>
          <p:nvPr/>
        </p:nvSpPr>
        <p:spPr>
          <a:xfrm>
            <a:off x="8366760" y="2194560"/>
            <a:ext cx="3063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Suavização exponencial com tendência e sazonalidade: </a:t>
            </a:r>
            <a:r>
              <a:rPr lang="en-US" sz="1300" dirty="0" err="1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método</a:t>
            </a:r>
            <a:r>
              <a:rPr lang="en-US" sz="13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clássico</a:t>
            </a:r>
            <a:r>
              <a:rPr lang="en-US" sz="13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400" dirty="0"/>
          </a:p>
        </p:txBody>
      </p:sp>
      <p:sp>
        <p:nvSpPr>
          <p:cNvPr id="21" name="Shape 16"/>
          <p:cNvSpPr/>
          <p:nvPr/>
        </p:nvSpPr>
        <p:spPr>
          <a:xfrm>
            <a:off x="548640" y="5257800"/>
            <a:ext cx="11091672" cy="1051560"/>
          </a:xfrm>
          <a:prstGeom prst="roundRect">
            <a:avLst>
              <a:gd name="adj" fmla="val 7143"/>
            </a:avLst>
          </a:prstGeom>
          <a:solidFill>
            <a:srgbClr val="EAF2F3"/>
          </a:solidFill>
          <a:ln w="12700">
            <a:solidFill>
              <a:srgbClr val="EAF2F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2" name="Shape 17"/>
          <p:cNvSpPr/>
          <p:nvPr/>
        </p:nvSpPr>
        <p:spPr>
          <a:xfrm>
            <a:off x="731520" y="5564124"/>
            <a:ext cx="438912" cy="438912"/>
          </a:xfrm>
          <a:prstGeom prst="ellipse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3" name="Text 18"/>
          <p:cNvSpPr txBox="1"/>
          <p:nvPr/>
        </p:nvSpPr>
        <p:spPr>
          <a:xfrm>
            <a:off x="731520" y="556412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?</a:t>
            </a:r>
            <a:endParaRPr lang="en-US" sz="1800" dirty="0"/>
          </a:p>
        </p:txBody>
      </p:sp>
      <p:sp>
        <p:nvSpPr>
          <p:cNvPr id="24" name="Text 19"/>
          <p:cNvSpPr txBox="1"/>
          <p:nvPr/>
        </p:nvSpPr>
        <p:spPr>
          <a:xfrm>
            <a:off x="1325880" y="5257800"/>
            <a:ext cx="1013155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quê uma rede neural? </a:t>
            </a:r>
            <a:r>
              <a:rPr lang="en-US" sz="135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consumo sofre fatores não lineares (crises, pandemia, migração, geração distribuída), </a:t>
            </a:r>
            <a:r>
              <a:rPr lang="en-US" sz="1350" dirty="0" err="1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motivou</a:t>
            </a:r>
            <a:r>
              <a:rPr lang="en-US" sz="135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 LSTM. O Gradient Boosting e o Holt-Winters servem de comparação. O teste usa os 24 meses </a:t>
            </a:r>
            <a:r>
              <a:rPr lang="en-US" sz="1350" dirty="0" err="1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mais</a:t>
            </a:r>
            <a:r>
              <a:rPr lang="en-US" sz="135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50" dirty="0" err="1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recentes</a:t>
            </a:r>
            <a:r>
              <a:rPr lang="en-US" sz="135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</a:t>
            </a:r>
            <a:r>
              <a:rPr lang="en-US" sz="1350" dirty="0" err="1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nunca</a:t>
            </a:r>
            <a:r>
              <a:rPr lang="en-US" sz="135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vistos no </a:t>
            </a:r>
            <a:r>
              <a:rPr lang="en-US" sz="1350" dirty="0" err="1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treino</a:t>
            </a:r>
            <a:r>
              <a:rPr lang="en-US" sz="135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 para medir o erro sem vazamento de dados.</a:t>
            </a:r>
          </a:p>
        </p:txBody>
      </p:sp>
      <p:sp>
        <p:nvSpPr>
          <p:cNvPr id="25" name="Text 20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2 · Etapa 5 · Modelagem   ·   Relatório: Seções II e III.D a III.G</a:t>
            </a:r>
            <a:endParaRPr lang="en-US" sz="1000" dirty="0"/>
          </a:p>
        </p:txBody>
      </p:sp>
      <p:sp>
        <p:nvSpPr>
          <p:cNvPr id="26" name="Text 21"/>
          <p:cNvSpPr txBox="1"/>
          <p:nvPr/>
        </p:nvSpPr>
        <p:spPr>
          <a:xfrm>
            <a:off x="1118585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31" name="Shape 1"/>
          <p:cNvSpPr/>
          <p:nvPr/>
        </p:nvSpPr>
        <p:spPr>
          <a:xfrm>
            <a:off x="548640" y="3429000"/>
            <a:ext cx="1143000" cy="640080"/>
          </a:xfrm>
          <a:prstGeom prst="roundRect">
            <a:avLst>
              <a:gd name="adj" fmla="val 8000"/>
            </a:avLst>
          </a:prstGeom>
          <a:solidFill>
            <a:srgbClr val="2E7D86"/>
          </a:solidFill>
          <a:ln w="12700">
            <a:solidFill>
              <a:srgbClr val="2E7D8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2" name="Text 2"/>
          <p:cNvSpPr txBox="1"/>
          <p:nvPr/>
        </p:nvSpPr>
        <p:spPr>
          <a:xfrm>
            <a:off x="548640" y="3429000"/>
            <a:ext cx="1143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Entrada</a:t>
            </a:r>
            <a:endParaRPr lang="en-US" sz="15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meses</a:t>
            </a:r>
            <a:endParaRPr lang="en-US" sz="1500" dirty="0"/>
          </a:p>
        </p:txBody>
      </p:sp>
      <p:sp>
        <p:nvSpPr>
          <p:cNvPr id="33" name="Shape 3"/>
          <p:cNvSpPr/>
          <p:nvPr/>
        </p:nvSpPr>
        <p:spPr>
          <a:xfrm>
            <a:off x="1746504" y="3630168"/>
            <a:ext cx="219456" cy="237744"/>
          </a:xfrm>
          <a:prstGeom prst="rightArrow">
            <a:avLst/>
          </a:prstGeom>
          <a:solidFill>
            <a:srgbClr val="5B6B70"/>
          </a:solidFill>
          <a:ln w="12700">
            <a:solidFill>
              <a:srgbClr val="5B6B7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4" name="Shape 4"/>
          <p:cNvSpPr/>
          <p:nvPr/>
        </p:nvSpPr>
        <p:spPr>
          <a:xfrm>
            <a:off x="1965960" y="3429000"/>
            <a:ext cx="1143000" cy="640080"/>
          </a:xfrm>
          <a:prstGeom prst="roundRect">
            <a:avLst>
              <a:gd name="adj" fmla="val 8000"/>
            </a:avLst>
          </a:prstGeom>
          <a:solidFill>
            <a:srgbClr val="0E3B43"/>
          </a:solidFill>
          <a:ln w="12700">
            <a:solidFill>
              <a:srgbClr val="0E3B4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5" name="Text 5"/>
          <p:cNvSpPr txBox="1"/>
          <p:nvPr/>
        </p:nvSpPr>
        <p:spPr>
          <a:xfrm>
            <a:off x="1965960" y="3429000"/>
            <a:ext cx="1143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LSTM</a:t>
            </a:r>
            <a:endParaRPr lang="en-US" sz="15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 unidades</a:t>
            </a:r>
            <a:endParaRPr lang="en-US" sz="1500" dirty="0"/>
          </a:p>
        </p:txBody>
      </p:sp>
      <p:sp>
        <p:nvSpPr>
          <p:cNvPr id="36" name="Shape 6"/>
          <p:cNvSpPr/>
          <p:nvPr/>
        </p:nvSpPr>
        <p:spPr>
          <a:xfrm>
            <a:off x="3163824" y="3630168"/>
            <a:ext cx="219456" cy="237744"/>
          </a:xfrm>
          <a:prstGeom prst="rightArrow">
            <a:avLst/>
          </a:prstGeom>
          <a:solidFill>
            <a:srgbClr val="5B6B70"/>
          </a:solidFill>
          <a:ln w="12700">
            <a:solidFill>
              <a:srgbClr val="5B6B7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7" name="Shape 7"/>
          <p:cNvSpPr/>
          <p:nvPr/>
        </p:nvSpPr>
        <p:spPr>
          <a:xfrm>
            <a:off x="3383280" y="3429000"/>
            <a:ext cx="1143000" cy="640080"/>
          </a:xfrm>
          <a:prstGeom prst="roundRect">
            <a:avLst>
              <a:gd name="adj" fmla="val 8000"/>
            </a:avLst>
          </a:prstGeom>
          <a:solidFill>
            <a:srgbClr val="2E7D86"/>
          </a:solidFill>
          <a:ln w="12700">
            <a:solidFill>
              <a:srgbClr val="2E7D8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7" name="Text 8"/>
          <p:cNvSpPr txBox="1"/>
          <p:nvPr/>
        </p:nvSpPr>
        <p:spPr>
          <a:xfrm>
            <a:off x="3383280" y="3429000"/>
            <a:ext cx="1143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</a:t>
            </a:r>
            <a:endParaRPr lang="en-US" sz="15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· ReLU</a:t>
            </a:r>
            <a:endParaRPr lang="en-US" sz="1500" dirty="0"/>
          </a:p>
        </p:txBody>
      </p:sp>
      <p:sp>
        <p:nvSpPr>
          <p:cNvPr id="28" name="Shape 9"/>
          <p:cNvSpPr/>
          <p:nvPr/>
        </p:nvSpPr>
        <p:spPr>
          <a:xfrm>
            <a:off x="4581144" y="3630168"/>
            <a:ext cx="219456" cy="237744"/>
          </a:xfrm>
          <a:prstGeom prst="rightArrow">
            <a:avLst/>
          </a:prstGeom>
          <a:solidFill>
            <a:srgbClr val="5B6B70"/>
          </a:solidFill>
          <a:ln w="12700">
            <a:solidFill>
              <a:srgbClr val="5B6B7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9" name="Shape 10"/>
          <p:cNvSpPr/>
          <p:nvPr/>
        </p:nvSpPr>
        <p:spPr>
          <a:xfrm>
            <a:off x="4800600" y="3429000"/>
            <a:ext cx="1143000" cy="640080"/>
          </a:xfrm>
          <a:prstGeom prst="roundRect">
            <a:avLst>
              <a:gd name="adj" fmla="val 8000"/>
            </a:avLst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0" name="Text 11"/>
          <p:cNvSpPr txBox="1"/>
          <p:nvPr/>
        </p:nvSpPr>
        <p:spPr>
          <a:xfrm>
            <a:off x="4800600" y="3429000"/>
            <a:ext cx="1143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Saída</a:t>
            </a:r>
            <a:endParaRPr lang="en-US" sz="15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mês</a:t>
            </a:r>
            <a:endParaRPr lang="en-US" sz="1500" dirty="0"/>
          </a:p>
        </p:txBody>
      </p:sp>
      <p:sp>
        <p:nvSpPr>
          <p:cNvPr id="38" name="Text 16"/>
          <p:cNvSpPr txBox="1"/>
          <p:nvPr/>
        </p:nvSpPr>
        <p:spPr>
          <a:xfrm>
            <a:off x="548640" y="422452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cronológico (376 meses): o teste são os meses mais recentes, que o modelo nunca viu</a:t>
            </a:r>
            <a:endParaRPr lang="en-US" sz="1400" dirty="0"/>
          </a:p>
        </p:txBody>
      </p:sp>
      <p:sp>
        <p:nvSpPr>
          <p:cNvPr id="39" name="Shape 17"/>
          <p:cNvSpPr/>
          <p:nvPr/>
        </p:nvSpPr>
        <p:spPr>
          <a:xfrm>
            <a:off x="548640" y="4526280"/>
            <a:ext cx="9675713" cy="292608"/>
          </a:xfrm>
          <a:prstGeom prst="rect">
            <a:avLst/>
          </a:prstGeom>
          <a:solidFill>
            <a:srgbClr val="2E7D86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0" name="Shape 18"/>
          <p:cNvSpPr/>
          <p:nvPr/>
        </p:nvSpPr>
        <p:spPr>
          <a:xfrm>
            <a:off x="10224353" y="4526280"/>
            <a:ext cx="707979" cy="292608"/>
          </a:xfrm>
          <a:prstGeom prst="rect">
            <a:avLst/>
          </a:prstGeom>
          <a:solidFill>
            <a:srgbClr val="7FB3B9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1" name="Shape 19"/>
          <p:cNvSpPr/>
          <p:nvPr/>
        </p:nvSpPr>
        <p:spPr>
          <a:xfrm>
            <a:off x="10932332" y="4526280"/>
            <a:ext cx="707979" cy="292608"/>
          </a:xfrm>
          <a:prstGeom prst="rect">
            <a:avLst/>
          </a:prstGeom>
          <a:solidFill>
            <a:srgbClr val="E8A33D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2" name="Text 20"/>
          <p:cNvSpPr txBox="1"/>
          <p:nvPr/>
        </p:nvSpPr>
        <p:spPr>
          <a:xfrm>
            <a:off x="548640" y="484632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4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Treino: 328 meses (dez/1994–mar/2022)   ·   Validação: 24 meses (abr/2022–mar/2024, parada antecipada)   ·   Teste: 24 meses (abr/2024–mar/2026)</a:t>
            </a:r>
            <a:endParaRPr lang="en-US" sz="1400" dirty="0"/>
          </a:p>
        </p:txBody>
      </p:sp>
      <p:sp>
        <p:nvSpPr>
          <p:cNvPr id="43" name="TextBox 22"/>
          <p:cNvSpPr txBox="1"/>
          <p:nvPr/>
        </p:nvSpPr>
        <p:spPr>
          <a:xfrm>
            <a:off x="6263640" y="3410712"/>
            <a:ext cx="5376672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400" dirty="0">
                <a:solidFill>
                  <a:srgbClr val="1F2A2E"/>
                </a:solidFill>
                <a:latin typeface="Calibri"/>
              </a:rPr>
              <a:t>A rede </a:t>
            </a:r>
            <a:r>
              <a:rPr sz="1400" dirty="0" err="1">
                <a:solidFill>
                  <a:srgbClr val="1F2A2E"/>
                </a:solidFill>
                <a:latin typeface="Calibri"/>
              </a:rPr>
              <a:t>ocupa</a:t>
            </a:r>
            <a:r>
              <a:rPr sz="1400" dirty="0">
                <a:solidFill>
                  <a:srgbClr val="1F2A2E"/>
                </a:solidFill>
                <a:latin typeface="Calibri"/>
              </a:rPr>
              <a:t> 6 </a:t>
            </a:r>
            <a:r>
              <a:rPr sz="1400" dirty="0" err="1">
                <a:solidFill>
                  <a:srgbClr val="1F2A2E"/>
                </a:solidFill>
                <a:latin typeface="Calibri"/>
              </a:rPr>
              <a:t>linhas</a:t>
            </a:r>
            <a:r>
              <a:rPr sz="1400" dirty="0">
                <a:solidFill>
                  <a:srgbClr val="1F2A2E"/>
                </a:solidFill>
                <a:latin typeface="Calibri"/>
              </a:rPr>
              <a:t> de </a:t>
            </a:r>
            <a:r>
              <a:rPr sz="1400" dirty="0" err="1">
                <a:solidFill>
                  <a:srgbClr val="1F2A2E"/>
                </a:solidFill>
                <a:latin typeface="Calibri"/>
              </a:rPr>
              <a:t>código</a:t>
            </a:r>
            <a:r>
              <a:rPr sz="1400" dirty="0">
                <a:solidFill>
                  <a:srgbClr val="1F2A2E"/>
                </a:solidFill>
                <a:latin typeface="Calibri"/>
              </a:rPr>
              <a:t> (o pipeline </a:t>
            </a:r>
            <a:r>
              <a:rPr sz="1400" dirty="0" err="1">
                <a:solidFill>
                  <a:srgbClr val="1F2A2E"/>
                </a:solidFill>
                <a:latin typeface="Calibri"/>
              </a:rPr>
              <a:t>completo</a:t>
            </a:r>
            <a:r>
              <a:rPr sz="1400" dirty="0">
                <a:solidFill>
                  <a:srgbClr val="1F2A2E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1F2A2E"/>
                </a:solidFill>
                <a:latin typeface="Calibri"/>
              </a:rPr>
              <a:t>tem</a:t>
            </a:r>
            <a:r>
              <a:rPr sz="1400" dirty="0">
                <a:solidFill>
                  <a:srgbClr val="1F2A2E"/>
                </a:solidFill>
                <a:latin typeface="Calibri"/>
              </a:rPr>
              <a:t> ≈1.270). Adam (</a:t>
            </a:r>
            <a:r>
              <a:rPr sz="1400" dirty="0" err="1">
                <a:solidFill>
                  <a:srgbClr val="1F2A2E"/>
                </a:solidFill>
                <a:latin typeface="Calibri"/>
              </a:rPr>
              <a:t>lr</a:t>
            </a:r>
            <a:r>
              <a:rPr sz="1400" dirty="0">
                <a:solidFill>
                  <a:srgbClr val="1F2A2E"/>
                </a:solidFill>
                <a:latin typeface="Calibri"/>
              </a:rPr>
              <a:t> = 0,005) · </a:t>
            </a:r>
            <a:r>
              <a:rPr sz="1400" dirty="0" err="1">
                <a:solidFill>
                  <a:srgbClr val="1F2A2E"/>
                </a:solidFill>
                <a:latin typeface="Calibri"/>
              </a:rPr>
              <a:t>perda</a:t>
            </a:r>
            <a:r>
              <a:rPr sz="1400" dirty="0">
                <a:solidFill>
                  <a:srgbClr val="1F2A2E"/>
                </a:solidFill>
                <a:latin typeface="Calibri"/>
              </a:rPr>
              <a:t> MSE · z-score </a:t>
            </a:r>
            <a:r>
              <a:rPr sz="1400" dirty="0" err="1">
                <a:solidFill>
                  <a:srgbClr val="1F2A2E"/>
                </a:solidFill>
                <a:latin typeface="Calibri"/>
              </a:rPr>
              <a:t>ajustado</a:t>
            </a:r>
            <a:r>
              <a:rPr sz="1400" dirty="0">
                <a:solidFill>
                  <a:srgbClr val="1F2A2E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1F2A2E"/>
                </a:solidFill>
                <a:latin typeface="Calibri"/>
              </a:rPr>
              <a:t>só</a:t>
            </a:r>
            <a:r>
              <a:rPr sz="1400" dirty="0">
                <a:solidFill>
                  <a:srgbClr val="1F2A2E"/>
                </a:solidFill>
                <a:latin typeface="Calibri"/>
              </a:rPr>
              <a:t> no </a:t>
            </a:r>
            <a:r>
              <a:rPr sz="1400" dirty="0" err="1">
                <a:solidFill>
                  <a:srgbClr val="1F2A2E"/>
                </a:solidFill>
                <a:latin typeface="Calibri"/>
              </a:rPr>
              <a:t>treino</a:t>
            </a:r>
            <a:r>
              <a:rPr sz="1400" dirty="0">
                <a:solidFill>
                  <a:srgbClr val="1F2A2E"/>
                </a:solidFill>
                <a:latin typeface="Calibri"/>
              </a:rPr>
              <a:t> · </a:t>
            </a:r>
            <a:r>
              <a:rPr sz="1400" dirty="0" err="1">
                <a:solidFill>
                  <a:srgbClr val="1F2A2E"/>
                </a:solidFill>
                <a:latin typeface="Calibri"/>
              </a:rPr>
              <a:t>parada</a:t>
            </a:r>
            <a:r>
              <a:rPr sz="1400" dirty="0">
                <a:solidFill>
                  <a:srgbClr val="1F2A2E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1F2A2E"/>
                </a:solidFill>
                <a:latin typeface="Calibri"/>
              </a:rPr>
              <a:t>antecipada</a:t>
            </a:r>
            <a:r>
              <a:rPr sz="1400" dirty="0">
                <a:solidFill>
                  <a:srgbClr val="1F2A2E"/>
                </a:solidFill>
                <a:latin typeface="Calibri"/>
              </a:rPr>
              <a:t> com </a:t>
            </a:r>
            <a:r>
              <a:rPr sz="1400" dirty="0" err="1">
                <a:solidFill>
                  <a:srgbClr val="1F2A2E"/>
                </a:solidFill>
                <a:latin typeface="Calibri"/>
              </a:rPr>
              <a:t>paciência</a:t>
            </a:r>
            <a:r>
              <a:rPr sz="1400" dirty="0">
                <a:solidFill>
                  <a:srgbClr val="1F2A2E"/>
                </a:solidFill>
                <a:latin typeface="Calibri"/>
              </a:rPr>
              <a:t> de 10 </a:t>
            </a:r>
            <a:r>
              <a:rPr sz="1400" dirty="0" err="1">
                <a:solidFill>
                  <a:srgbClr val="1F2A2E"/>
                </a:solidFill>
                <a:latin typeface="Calibri"/>
              </a:rPr>
              <a:t>épocas</a:t>
            </a:r>
            <a:r>
              <a:rPr sz="1400" dirty="0">
                <a:solidFill>
                  <a:srgbClr val="1F2A2E"/>
                </a:solidFill>
                <a:latin typeface="Calibri"/>
              </a:rPr>
              <a:t>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02336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E3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Parte 2 · Avaliação e previsão do consumo até 2030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8016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 na janela única de teste (24 meses)</a:t>
            </a:r>
            <a:endParaRPr lang="en-US" sz="16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45920"/>
          <a:ext cx="5385816" cy="1255776"/>
        </p:xfrm>
        <a:graphic>
          <a:graphicData uri="http://schemas.openxmlformats.org/drawingml/2006/table">
            <a:tbl>
              <a:tblPr/>
              <a:tblGrid>
                <a:gridCol w="1188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9903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9903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9903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B4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MAPE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000" b="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erro percentual médio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B4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RMSE (MWh)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000" b="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raiz do erro quadrático médio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B4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MAE (MWh)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000" b="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erro absoluto médio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B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Holt-Winters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16,48%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45.526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39.943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LSTM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12,53%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35.098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30.334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3063240"/>
            <a:ext cx="5394960" cy="1188720"/>
          </a:xfrm>
          <a:prstGeom prst="roundRect">
            <a:avLst>
              <a:gd name="adj" fmla="val 6667"/>
            </a:avLst>
          </a:prstGeom>
          <a:solidFill>
            <a:srgbClr val="EAF2F3"/>
          </a:solidFill>
          <a:ln w="12700">
            <a:solidFill>
              <a:srgbClr val="EAF2F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Shape 3"/>
          <p:cNvSpPr/>
          <p:nvPr/>
        </p:nvSpPr>
        <p:spPr>
          <a:xfrm>
            <a:off x="731520" y="3438144"/>
            <a:ext cx="438912" cy="438912"/>
          </a:xfrm>
          <a:prstGeom prst="ellipse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4"/>
          <p:cNvSpPr txBox="1"/>
          <p:nvPr/>
        </p:nvSpPr>
        <p:spPr>
          <a:xfrm>
            <a:off x="731520" y="343814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?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1325880" y="3063240"/>
            <a:ext cx="4434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quê a janela única não basta? </a:t>
            </a:r>
            <a:r>
              <a:rPr lang="en-US" sz="125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LSTM teve o melhor resultado nela (12,53% contra 16,48% do Holt-Winters), mas ela cobre um único período, que coincide com a queda de 2025. Em 21 janelas anuais a comparação é mais robusta.</a:t>
            </a:r>
            <a:endParaRPr lang="en-US" sz="1300" dirty="0"/>
          </a:p>
        </p:txBody>
      </p:sp>
      <p:graphicFrame>
        <p:nvGraphicFramePr>
          <p:cNvPr id="11" name="Chart 0"/>
          <p:cNvGraphicFramePr/>
          <p:nvPr/>
        </p:nvGraphicFramePr>
        <p:xfrm>
          <a:off x="6355080" y="1234440"/>
          <a:ext cx="5303520" cy="193852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3" name="Text 9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2 · Etapa 6 · Avaliação   ·   Relatório: Seções IV.A a IV.C</a:t>
            </a:r>
            <a:endParaRPr lang="en-US" sz="1000" dirty="0"/>
          </a:p>
        </p:txBody>
      </p:sp>
      <p:sp>
        <p:nvSpPr>
          <p:cNvPr id="14" name="Text 10"/>
          <p:cNvSpPr txBox="1"/>
          <p:nvPr/>
        </p:nvSpPr>
        <p:spPr>
          <a:xfrm>
            <a:off x="1118585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4343400"/>
            <a:ext cx="4540250" cy="1783080"/>
          </a:xfrm>
          <a:prstGeom prst="rect">
            <a:avLst/>
          </a:prstGeom>
        </p:spPr>
      </p:pic>
      <p:sp>
        <p:nvSpPr>
          <p:cNvPr id="4" name="Text 2"/>
          <p:cNvSpPr txBox="1"/>
          <p:nvPr/>
        </p:nvSpPr>
        <p:spPr>
          <a:xfrm>
            <a:off x="6355080" y="436626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E3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57 meses</a:t>
            </a:r>
            <a:endParaRPr lang="en-US" sz="3000" dirty="0"/>
          </a:p>
        </p:txBody>
      </p:sp>
      <p:sp>
        <p:nvSpPr>
          <p:cNvPr id="16" name="Text 3"/>
          <p:cNvSpPr txBox="1"/>
          <p:nvPr/>
        </p:nvSpPr>
        <p:spPr>
          <a:xfrm>
            <a:off x="6367368" y="483419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horizonte (abr/2026–dez/2030)</a:t>
            </a:r>
            <a:endParaRPr lang="en-US" sz="1200" dirty="0"/>
          </a:p>
        </p:txBody>
      </p:sp>
      <p:sp>
        <p:nvSpPr>
          <p:cNvPr id="17" name="Text 4"/>
          <p:cNvSpPr txBox="1"/>
          <p:nvPr/>
        </p:nvSpPr>
        <p:spPr>
          <a:xfrm>
            <a:off x="9006840" y="434340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E7D8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249 → 257</a:t>
            </a:r>
            <a:endParaRPr lang="en-US" sz="3000" dirty="0"/>
          </a:p>
        </p:txBody>
      </p:sp>
      <p:sp>
        <p:nvSpPr>
          <p:cNvPr id="18" name="Text 5"/>
          <p:cNvSpPr txBox="1"/>
          <p:nvPr/>
        </p:nvSpPr>
        <p:spPr>
          <a:xfrm>
            <a:off x="9019128" y="4780073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 MWh/mês, média de 2027 a 2030</a:t>
            </a:r>
          </a:p>
          <a:p>
            <a:pPr marL="0" indent="0">
              <a:buNone/>
            </a:pPr>
            <a:r>
              <a:rPr lang="en-US" sz="11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(2025: 251 mil)</a:t>
            </a:r>
            <a:endParaRPr lang="en-US" sz="1200" dirty="0"/>
          </a:p>
        </p:txBody>
      </p:sp>
      <p:sp>
        <p:nvSpPr>
          <p:cNvPr id="19" name="Shape 7"/>
          <p:cNvSpPr/>
          <p:nvPr/>
        </p:nvSpPr>
        <p:spPr>
          <a:xfrm>
            <a:off x="5852160" y="5349240"/>
            <a:ext cx="5788152" cy="960120"/>
          </a:xfrm>
          <a:prstGeom prst="roundRect">
            <a:avLst>
              <a:gd name="adj" fmla="val 10000"/>
            </a:avLst>
          </a:prstGeom>
          <a:solidFill>
            <a:srgbClr val="EAF2F3"/>
          </a:solidFill>
          <a:ln w="12700">
            <a:solidFill>
              <a:srgbClr val="EAF2F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0" name="Shape 8"/>
          <p:cNvSpPr/>
          <p:nvPr/>
        </p:nvSpPr>
        <p:spPr>
          <a:xfrm>
            <a:off x="6035040" y="5609844"/>
            <a:ext cx="438912" cy="438912"/>
          </a:xfrm>
          <a:prstGeom prst="ellipse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1" name="Text 9"/>
          <p:cNvSpPr txBox="1"/>
          <p:nvPr/>
        </p:nvSpPr>
        <p:spPr>
          <a:xfrm>
            <a:off x="6035040" y="560984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?</a:t>
            </a:r>
            <a:endParaRPr lang="en-US" sz="1800" dirty="0"/>
          </a:p>
        </p:txBody>
      </p:sp>
      <p:sp>
        <p:nvSpPr>
          <p:cNvPr id="22" name="Text 10"/>
          <p:cNvSpPr txBox="1"/>
          <p:nvPr/>
        </p:nvSpPr>
        <p:spPr>
          <a:xfrm>
            <a:off x="6629400" y="5349240"/>
            <a:ext cx="4892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LSTM: </a:t>
            </a:r>
            <a:r>
              <a:rPr lang="en-US" sz="1200" dirty="0" err="1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captura</a:t>
            </a:r>
            <a:r>
              <a:rPr lang="en-US" sz="1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relações não lineares e gera a projeção até dez/2030 (57 meses) no fluxo TensorFlow/Keras.</a:t>
            </a:r>
          </a:p>
          <a:p>
            <a:pPr marL="0" indent="0">
              <a:buNone/>
            </a:pPr>
            <a:r>
              <a:rPr lang="en-US" sz="1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previsão reflete o platô recente, e a incerteza cresce em 2029–2030.</a:t>
            </a:r>
            <a:endParaRPr lang="en-US" sz="135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55080" y="3456432"/>
          <a:ext cx="5303520" cy="832104"/>
        </p:xfrm>
        <a:graphic>
          <a:graphicData uri="http://schemas.openxmlformats.org/drawingml/2006/table">
            <a:tbl>
              <a:tblPr/>
              <a:tblGrid>
                <a:gridCol w="26517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Wilcoxon (21 janelas)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B4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p-valor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B4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Diferença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B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Holt-Winters × LSTM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0,002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significativa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Holt-Winters × Gradient Boosting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0,137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não significativa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3" name="Fonte"/>
          <p:cNvSpPr txBox="1"/>
          <p:nvPr/>
        </p:nvSpPr>
        <p:spPr>
          <a:xfrm>
            <a:off x="6355080" y="3200400"/>
            <a:ext cx="5303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i="1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Fonte: o autor (Tab. III do relatório); teste de Wilcoxon [12].</a:t>
            </a:r>
            <a:endParaRPr lang="en-US" sz="900" dirty="0"/>
          </a:p>
        </p:txBody>
      </p:sp>
      <p:sp>
        <p:nvSpPr>
          <p:cNvPr id="24" name="Fonte"/>
          <p:cNvSpPr txBox="1"/>
          <p:nvPr/>
        </p:nvSpPr>
        <p:spPr>
          <a:xfrm>
            <a:off x="548640" y="6163056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i="1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Fonte: o autor (Fig. 8 do relatório), com dados da CELESC [3].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02336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E3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Parte 3 · </a:t>
            </a:r>
            <a:r>
              <a:rPr lang="en-US" sz="2800" b="1" dirty="0" err="1">
                <a:solidFill>
                  <a:srgbClr val="0E3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Análise</a:t>
            </a:r>
            <a:r>
              <a:rPr lang="en-US" sz="2800" b="1" dirty="0">
                <a:solidFill>
                  <a:srgbClr val="0E3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sz="2800" b="1" dirty="0" err="1">
                <a:solidFill>
                  <a:srgbClr val="0E3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econômica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2588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E3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327.493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96596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tarifas homologadas de todas as distribuidoras do país (ANEEL)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4297680" y="132588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E3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 anos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4297680" y="196596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PLD semanal </a:t>
            </a:r>
            <a:r>
              <a:rPr lang="en-US" sz="1200" dirty="0" err="1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</a:t>
            </a:r>
            <a:r>
              <a:rPr lang="en-US" sz="12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submercado</a:t>
            </a:r>
            <a:r>
              <a:rPr lang="en-US" sz="12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(CCEE)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8046720" y="132588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E3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57 meses</a:t>
            </a:r>
            <a:endParaRPr lang="en-US" sz="3200" dirty="0"/>
          </a:p>
        </p:txBody>
      </p:sp>
      <p:sp>
        <p:nvSpPr>
          <p:cNvPr id="8" name="Text 6"/>
          <p:cNvSpPr txBox="1"/>
          <p:nvPr/>
        </p:nvSpPr>
        <p:spPr>
          <a:xfrm>
            <a:off x="8046720" y="196596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consumo previsto (Parte 2) para multiplicar por preço</a:t>
            </a:r>
            <a:endParaRPr lang="en-US" sz="12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7669339"/>
              </p:ext>
            </p:extLst>
          </p:nvPr>
        </p:nvGraphicFramePr>
        <p:xfrm>
          <a:off x="548640" y="2697480"/>
          <a:ext cx="11091672" cy="1664208"/>
        </p:xfrm>
        <a:graphic>
          <a:graphicData uri="http://schemas.openxmlformats.org/drawingml/2006/table">
            <a:tbl>
              <a:tblPr/>
              <a:tblGrid>
                <a:gridCol w="1188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06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95351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Fonte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B4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Papel na comparação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B4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Preparação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B4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Extrapolação até 2030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B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ANEEL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Tarifa do Cativo (TUSD + TE)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Filtrar CELESC, B3, modalidade Convencional, sem SCEE; vigências em meses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Real até ago/2027; depois +6% a.a.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CCEE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PLD Sul: preço do Livre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Consolidar 7 arquivos, filtrar o Sul, médias mensais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Real até set/2026; depois média sazonal 2021–2026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0" name="Text 7"/>
          <p:cNvSpPr txBox="1"/>
          <p:nvPr/>
        </p:nvSpPr>
        <p:spPr>
          <a:xfrm>
            <a:off x="548640" y="452628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Cativo = consumo × (TUSD + TE)</a:t>
            </a:r>
            <a:endParaRPr lang="en-US" sz="15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Livre = consumo × (TUSD + PLD Sul + encargos)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548640" y="5257800"/>
            <a:ext cx="11094415" cy="960120"/>
          </a:xfrm>
          <a:prstGeom prst="roundRect">
            <a:avLst>
              <a:gd name="adj" fmla="val 9524"/>
            </a:avLst>
          </a:prstGeom>
          <a:solidFill>
            <a:srgbClr val="EAF2F3"/>
          </a:solidFill>
          <a:ln w="12700">
            <a:solidFill>
              <a:srgbClr val="EAF2F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Shape 9"/>
          <p:cNvSpPr/>
          <p:nvPr/>
        </p:nvSpPr>
        <p:spPr>
          <a:xfrm>
            <a:off x="731520" y="5518404"/>
            <a:ext cx="438912" cy="438912"/>
          </a:xfrm>
          <a:prstGeom prst="ellipse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Text 10"/>
          <p:cNvSpPr txBox="1"/>
          <p:nvPr/>
        </p:nvSpPr>
        <p:spPr>
          <a:xfrm>
            <a:off x="731520" y="551840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?</a:t>
            </a:r>
            <a:endParaRPr lang="en-US" sz="1800" dirty="0"/>
          </a:p>
        </p:txBody>
      </p:sp>
      <p:sp>
        <p:nvSpPr>
          <p:cNvPr id="9" name="Text 11"/>
          <p:cNvSpPr txBox="1"/>
          <p:nvPr/>
        </p:nvSpPr>
        <p:spPr>
          <a:xfrm>
            <a:off x="1325880" y="5257800"/>
            <a:ext cx="1013429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 err="1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Depois</a:t>
            </a:r>
            <a:r>
              <a:rPr lang="en-US" sz="14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</a:t>
            </a:r>
            <a:r>
              <a:rPr lang="en-US" sz="14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 </a:t>
            </a:r>
            <a:r>
              <a:rPr lang="en-US" sz="1400" dirty="0" err="1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consumo</a:t>
            </a:r>
            <a:r>
              <a:rPr lang="en-US" sz="14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do </a:t>
            </a:r>
            <a:r>
              <a:rPr lang="en-US" sz="1400" dirty="0" err="1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subgrupo</a:t>
            </a:r>
            <a:r>
              <a:rPr lang="en-US" sz="14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B3 </a:t>
            </a:r>
            <a:r>
              <a:rPr lang="en-US" sz="1400" dirty="0" err="1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foi</a:t>
            </a:r>
            <a:r>
              <a:rPr lang="en-US" sz="14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caracterizado</a:t>
            </a:r>
            <a:r>
              <a:rPr lang="en-US" sz="14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 </a:t>
            </a:r>
            <a:r>
              <a:rPr lang="en-US" sz="1400" dirty="0" err="1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projetado</a:t>
            </a:r>
            <a:r>
              <a:rPr lang="en-US" sz="14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as </a:t>
            </a:r>
            <a:r>
              <a:rPr lang="en-US" sz="1400" dirty="0" err="1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tarifas</a:t>
            </a:r>
            <a:r>
              <a:rPr lang="en-US" sz="14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 PLDs </a:t>
            </a:r>
            <a:r>
              <a:rPr lang="en-US" sz="1400" dirty="0" err="1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servem</a:t>
            </a:r>
            <a:r>
              <a:rPr lang="en-US" sz="14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para </a:t>
            </a:r>
            <a:r>
              <a:rPr lang="en-US" sz="1400" dirty="0" err="1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precificar</a:t>
            </a:r>
            <a:r>
              <a:rPr lang="en-US" sz="14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</a:t>
            </a:r>
            <a:r>
              <a:rPr lang="en-US" sz="14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custos </a:t>
            </a:r>
            <a:r>
              <a:rPr lang="en-US" sz="1400" dirty="0" err="1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envolvidos</a:t>
            </a:r>
            <a:r>
              <a:rPr lang="en-US" sz="14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nas</a:t>
            </a:r>
            <a:r>
              <a:rPr lang="en-US" sz="14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modalidades</a:t>
            </a:r>
            <a:r>
              <a:rPr lang="en-US" sz="14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Cativo e o Livre.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3 · Análise econômica   ·   Relatório: Seções I.B e IV.D</a:t>
            </a:r>
            <a:endParaRPr lang="en-US" sz="1000" dirty="0"/>
          </a:p>
        </p:txBody>
      </p:sp>
      <p:sp>
        <p:nvSpPr>
          <p:cNvPr id="16" name="Text 13"/>
          <p:cNvSpPr txBox="1"/>
          <p:nvPr/>
        </p:nvSpPr>
        <p:spPr>
          <a:xfrm>
            <a:off x="1118585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02336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E3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Parte 3 · </a:t>
            </a:r>
            <a:r>
              <a:rPr lang="en-US" sz="2800" b="1" dirty="0" err="1">
                <a:solidFill>
                  <a:srgbClr val="0E3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Cenários</a:t>
            </a:r>
            <a:r>
              <a:rPr lang="en-US" sz="2800" b="1" dirty="0">
                <a:solidFill>
                  <a:srgbClr val="0E3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: </a:t>
            </a:r>
            <a:r>
              <a:rPr lang="en-US" sz="2800" b="1" dirty="0" err="1">
                <a:solidFill>
                  <a:srgbClr val="0E3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incluir</a:t>
            </a:r>
            <a:r>
              <a:rPr lang="en-US" sz="2800" b="1" dirty="0">
                <a:solidFill>
                  <a:srgbClr val="0E3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os encargos?</a:t>
            </a:r>
            <a:endParaRPr lang="en-US" sz="2800" dirty="0"/>
          </a:p>
        </p:txBody>
      </p:sp>
      <p:graphicFrame>
        <p:nvGraphicFramePr>
          <p:cNvPr id="3" name="Chart 0"/>
          <p:cNvGraphicFramePr/>
          <p:nvPr/>
        </p:nvGraphicFramePr>
        <p:xfrm>
          <a:off x="548640" y="1280160"/>
          <a:ext cx="5852160" cy="38404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75120" y="1371600"/>
          <a:ext cx="4965192" cy="2633472"/>
        </p:xfrm>
        <a:graphic>
          <a:graphicData uri="http://schemas.openxmlformats.org/drawingml/2006/table">
            <a:tbl>
              <a:tblPr/>
              <a:tblGrid>
                <a:gridCol w="35021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Encargo do mercado livre (cenário base)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B4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R$/MWh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B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ESS + EER + ERCAP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Comercializador varejista + CCEE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Prêmio de risco do contrato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Angra 1 e 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Perdas na rede básica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2% do preço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Text 1"/>
          <p:cNvSpPr txBox="1"/>
          <p:nvPr/>
        </p:nvSpPr>
        <p:spPr>
          <a:xfrm>
            <a:off x="6675120" y="4114800"/>
            <a:ext cx="49651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pessimista, o Livre é mais barato em 42 dos 57 meses; no base, em 55.</a:t>
            </a:r>
            <a:endParaRPr lang="en-US" sz="1300" dirty="0"/>
          </a:p>
        </p:txBody>
      </p:sp>
      <p:sp>
        <p:nvSpPr>
          <p:cNvPr id="6" name="Shape 2"/>
          <p:cNvSpPr/>
          <p:nvPr/>
        </p:nvSpPr>
        <p:spPr>
          <a:xfrm>
            <a:off x="548640" y="5257800"/>
            <a:ext cx="11094415" cy="960120"/>
          </a:xfrm>
          <a:prstGeom prst="roundRect">
            <a:avLst>
              <a:gd name="adj" fmla="val 9524"/>
            </a:avLst>
          </a:prstGeom>
          <a:solidFill>
            <a:srgbClr val="EAF2F3"/>
          </a:solidFill>
          <a:ln w="12700">
            <a:solidFill>
              <a:srgbClr val="EAF2F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Shape 3"/>
          <p:cNvSpPr/>
          <p:nvPr/>
        </p:nvSpPr>
        <p:spPr>
          <a:xfrm>
            <a:off x="731520" y="5518404"/>
            <a:ext cx="438912" cy="438912"/>
          </a:xfrm>
          <a:prstGeom prst="ellipse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Text 4"/>
          <p:cNvSpPr txBox="1"/>
          <p:nvPr/>
        </p:nvSpPr>
        <p:spPr>
          <a:xfrm>
            <a:off x="731520" y="551840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?</a:t>
            </a:r>
            <a:endParaRPr lang="en-US" sz="1800" dirty="0"/>
          </a:p>
        </p:txBody>
      </p:sp>
      <p:sp>
        <p:nvSpPr>
          <p:cNvPr id="9" name="Text 5"/>
          <p:cNvSpPr txBox="1"/>
          <p:nvPr/>
        </p:nvSpPr>
        <p:spPr>
          <a:xfrm>
            <a:off x="1325880" y="5257800"/>
            <a:ext cx="1013429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quê os encargos? </a:t>
            </a:r>
            <a:r>
              <a:rPr lang="en-US" sz="135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Só com a energia, o Livre parece 24,8% mais barato. Ao migrar, o consumidor passa a pagar diretamente componentes que no Cativo estão embutidos na TE: com eles, a economia cai para 15,0% (</a:t>
            </a:r>
            <a:r>
              <a:rPr lang="en-US" sz="1350" dirty="0" err="1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cenário</a:t>
            </a:r>
            <a:r>
              <a:rPr lang="en-US" sz="135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base) e 4,6% (</a:t>
            </a:r>
            <a:r>
              <a:rPr lang="en-US" sz="1350" dirty="0" err="1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cenário</a:t>
            </a:r>
            <a:r>
              <a:rPr lang="en-US" sz="135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50" dirty="0" err="1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pessimista</a:t>
            </a:r>
            <a:r>
              <a:rPr lang="en-US" sz="135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).</a:t>
            </a:r>
            <a:endParaRPr lang="en-US" sz="1350" dirty="0"/>
          </a:p>
        </p:txBody>
      </p:sp>
      <p:sp>
        <p:nvSpPr>
          <p:cNvPr id="10" name="Text 6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3 · Análise econômica   ·   Relatório: Seções IV.E a IV.G</a:t>
            </a:r>
            <a:endParaRPr lang="en-US" sz="1000" dirty="0"/>
          </a:p>
        </p:txBody>
      </p:sp>
      <p:sp>
        <p:nvSpPr>
          <p:cNvPr id="11" name="Text 7"/>
          <p:cNvSpPr txBox="1"/>
          <p:nvPr/>
        </p:nvSpPr>
        <p:spPr>
          <a:xfrm>
            <a:off x="1118585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sp>
        <p:nvSpPr>
          <p:cNvPr id="16" name="Fonte"/>
          <p:cNvSpPr txBox="1"/>
          <p:nvPr/>
        </p:nvSpPr>
        <p:spPr>
          <a:xfrm>
            <a:off x="6675120" y="4526280"/>
            <a:ext cx="49651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i="1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Fonte: o autor (Fig. 10 e Tab. V do relatório), com tarifas da ANEEL [4] e PLD da CCEE [5]; encargos: premissas de referência (Seção IV.F).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02336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E3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Parte 3 · </a:t>
            </a:r>
            <a:r>
              <a:rPr lang="en-US" sz="2800" b="1" dirty="0" err="1">
                <a:solidFill>
                  <a:srgbClr val="0E3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Validação</a:t>
            </a:r>
            <a:r>
              <a:rPr lang="en-US" sz="2800" b="1" dirty="0">
                <a:solidFill>
                  <a:srgbClr val="0E3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: o risco hidrológico</a:t>
            </a:r>
            <a:endParaRPr lang="en-US" sz="2800" dirty="0"/>
          </a:p>
        </p:txBody>
      </p:sp>
      <p:pic>
        <p:nvPicPr>
          <p:cNvPr id="3" name="Image 0" descr="img/historic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325880"/>
            <a:ext cx="6766560" cy="384048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521208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i="1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Economia anual de um consumidor B3 exposto ao PLD (2011–2025), cenário base com encargos. Fonte: o autor (Fig. 11 do relatório), com tarifas da ANEEL [4] e PLD da CCEE [5].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7680960" y="1463040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B547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 de 15</a:t>
            </a:r>
            <a:endParaRPr lang="en-US" sz="3200" dirty="0"/>
          </a:p>
        </p:txBody>
      </p:sp>
      <p:sp>
        <p:nvSpPr>
          <p:cNvPr id="6" name="Text 3"/>
          <p:cNvSpPr txBox="1"/>
          <p:nvPr/>
        </p:nvSpPr>
        <p:spPr>
          <a:xfrm>
            <a:off x="7680960" y="210312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anos em que o Livre teria sido </a:t>
            </a:r>
            <a:r>
              <a:rPr lang="en-US" sz="1200" dirty="0" err="1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mais</a:t>
            </a:r>
            <a:r>
              <a:rPr lang="en-US" sz="12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caro</a:t>
            </a:r>
            <a:r>
              <a:rPr lang="en-US" sz="12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;</a:t>
            </a:r>
          </a:p>
        </p:txBody>
      </p:sp>
      <p:sp>
        <p:nvSpPr>
          <p:cNvPr id="7" name="Text 4"/>
          <p:cNvSpPr txBox="1"/>
          <p:nvPr/>
        </p:nvSpPr>
        <p:spPr>
          <a:xfrm>
            <a:off x="7680960" y="2926080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B547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−164%</a:t>
            </a:r>
            <a:endParaRPr lang="en-US" sz="3200" dirty="0"/>
          </a:p>
        </p:txBody>
      </p:sp>
      <p:sp>
        <p:nvSpPr>
          <p:cNvPr id="8" name="Text 5"/>
          <p:cNvSpPr txBox="1"/>
          <p:nvPr/>
        </p:nvSpPr>
        <p:spPr>
          <a:xfrm>
            <a:off x="7680960" y="356616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pior ano: 2014 (PLD médio de R$ 654/MWh)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548640" y="5532120"/>
            <a:ext cx="11094415" cy="777240"/>
          </a:xfrm>
          <a:prstGeom prst="roundRect">
            <a:avLst>
              <a:gd name="adj" fmla="val 11765"/>
            </a:avLst>
          </a:prstGeom>
          <a:solidFill>
            <a:srgbClr val="EAF2F3"/>
          </a:solidFill>
          <a:ln w="12700">
            <a:solidFill>
              <a:srgbClr val="EAF2F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Shape 7"/>
          <p:cNvSpPr/>
          <p:nvPr/>
        </p:nvSpPr>
        <p:spPr>
          <a:xfrm>
            <a:off x="731520" y="5701284"/>
            <a:ext cx="438912" cy="438912"/>
          </a:xfrm>
          <a:prstGeom prst="ellipse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Text 8"/>
          <p:cNvSpPr txBox="1"/>
          <p:nvPr/>
        </p:nvSpPr>
        <p:spPr>
          <a:xfrm>
            <a:off x="731520" y="570128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?</a:t>
            </a:r>
            <a:endParaRPr lang="en-US" sz="1800" dirty="0"/>
          </a:p>
        </p:txBody>
      </p:sp>
      <p:sp>
        <p:nvSpPr>
          <p:cNvPr id="12" name="Text 9"/>
          <p:cNvSpPr txBox="1"/>
          <p:nvPr/>
        </p:nvSpPr>
        <p:spPr>
          <a:xfrm>
            <a:off x="1325880" y="5532120"/>
            <a:ext cx="101342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quê validar? </a:t>
            </a:r>
            <a:r>
              <a:rPr lang="en-US" sz="135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projeção favorável pressupõe preços como os de 2021–2026.</a:t>
            </a:r>
          </a:p>
          <a:p>
            <a:pPr marL="0" indent="0">
              <a:buNone/>
            </a:pPr>
            <a:r>
              <a:rPr lang="en-US" sz="135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Um ano seco inverte a vantagem: o benefício da migração depende do regime hidrológico.</a:t>
            </a:r>
            <a:endParaRPr lang="en-US" sz="1350" dirty="0"/>
          </a:p>
        </p:txBody>
      </p:sp>
      <p:sp>
        <p:nvSpPr>
          <p:cNvPr id="13" name="Text 10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3 · Análise econômica   ·   Relatório: Seção IV.H</a:t>
            </a:r>
            <a:endParaRPr lang="en-US" sz="1000" dirty="0"/>
          </a:p>
        </p:txBody>
      </p:sp>
      <p:sp>
        <p:nvSpPr>
          <p:cNvPr id="14" name="Text 11"/>
          <p:cNvSpPr txBox="1"/>
          <p:nvPr/>
        </p:nvSpPr>
        <p:spPr>
          <a:xfrm>
            <a:off x="1118585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02336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E3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Conclusão: o que o LSTM entrega e onde tem limites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5394960" cy="3520440"/>
          </a:xfrm>
          <a:prstGeom prst="roundRect">
            <a:avLst>
              <a:gd name="adj" fmla="val 2597"/>
            </a:avLst>
          </a:prstGeom>
          <a:solidFill>
            <a:srgbClr val="FFFFFF"/>
          </a:solidFill>
          <a:ln w="9525">
            <a:solidFill>
              <a:srgbClr val="C9D6D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1600200"/>
            <a:ext cx="411480" cy="41148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371600" y="1581912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E7D8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Vantagens</a:t>
            </a:r>
            <a:endParaRPr lang="en-US" sz="2000" dirty="0"/>
          </a:p>
        </p:txBody>
      </p:sp>
      <p:sp>
        <p:nvSpPr>
          <p:cNvPr id="6" name="Text 3"/>
          <p:cNvSpPr txBox="1"/>
          <p:nvPr/>
        </p:nvSpPr>
        <p:spPr>
          <a:xfrm>
            <a:off x="822960" y="2240280"/>
            <a:ext cx="48463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Modela dependência temporal e relações não lineares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Dispensa especificar antes a forma da tendência e da sazonalidade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Incorpora variáveis exógenas: temperatura, atividade econômica, geração distribuída, tarifas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 para séries longas e de alta resolução, como dados horários da medição inteligente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6217920" y="1371600"/>
            <a:ext cx="5394960" cy="3520440"/>
          </a:xfrm>
          <a:prstGeom prst="roundRect">
            <a:avLst>
              <a:gd name="adj" fmla="val 2597"/>
            </a:avLst>
          </a:prstGeom>
          <a:solidFill>
            <a:srgbClr val="FFFFFF"/>
          </a:solidFill>
          <a:ln w="9525">
            <a:solidFill>
              <a:srgbClr val="C9D6D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2240" y="1600200"/>
            <a:ext cx="411480" cy="41148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7040880" y="1581912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B547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Desvantagens</a:t>
            </a:r>
            <a:endParaRPr lang="en-US" sz="2000" dirty="0"/>
          </a:p>
        </p:txBody>
      </p:sp>
      <p:sp>
        <p:nvSpPr>
          <p:cNvPr id="10" name="Text 6"/>
          <p:cNvSpPr txBox="1"/>
          <p:nvPr/>
        </p:nvSpPr>
        <p:spPr>
          <a:xfrm>
            <a:off x="6492240" y="2240280"/>
            <a:ext cx="48463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Exige muitos dados: a série tem só 376 meses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Mais sensível a hiperparâmetros: dispersão do erro de 5,51 p.p., contra 3,27 p.p. do Holt-Winters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Menor interpretabilidade e maior custo de treino</a:t>
            </a:r>
            <a:endParaRPr lang="en-US" sz="1500" dirty="0"/>
          </a:p>
        </p:txBody>
      </p:sp>
      <p:sp>
        <p:nvSpPr>
          <p:cNvPr id="11" name="Shape 7"/>
          <p:cNvSpPr/>
          <p:nvPr/>
        </p:nvSpPr>
        <p:spPr>
          <a:xfrm>
            <a:off x="548640" y="5074920"/>
            <a:ext cx="11094415" cy="1188720"/>
          </a:xfrm>
          <a:prstGeom prst="roundRect">
            <a:avLst>
              <a:gd name="adj" fmla="val 7692"/>
            </a:avLst>
          </a:prstGeom>
          <a:solidFill>
            <a:srgbClr val="EAF2F3"/>
          </a:solidFill>
          <a:ln w="12700">
            <a:solidFill>
              <a:srgbClr val="EAF2F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Shape 8"/>
          <p:cNvSpPr/>
          <p:nvPr/>
        </p:nvSpPr>
        <p:spPr>
          <a:xfrm>
            <a:off x="731520" y="5449824"/>
            <a:ext cx="438912" cy="438912"/>
          </a:xfrm>
          <a:prstGeom prst="ellipse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Text 9"/>
          <p:cNvSpPr txBox="1"/>
          <p:nvPr/>
        </p:nvSpPr>
        <p:spPr>
          <a:xfrm>
            <a:off x="731520" y="544982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?</a:t>
            </a:r>
            <a:endParaRPr lang="en-US" sz="1800" dirty="0"/>
          </a:p>
        </p:txBody>
      </p:sp>
      <p:sp>
        <p:nvSpPr>
          <p:cNvPr id="14" name="Text 10"/>
          <p:cNvSpPr txBox="1"/>
          <p:nvPr/>
        </p:nvSpPr>
        <p:spPr>
          <a:xfrm>
            <a:off x="1325880" y="5074920"/>
            <a:ext cx="1013429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Vale a pena? </a:t>
            </a:r>
            <a:r>
              <a:rPr lang="en-US" sz="13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Sim. O foco é entender o esforço de trabalhar com dados e de treinar uma rede neural em bibliotecas existentes, e isso foi feito de ponta a ponta. A comparação mostrou onde o LSTM já é competitivo (série curta e de baixa resolução) e onde tende a render mais: dados horários e variáveis exógenas.</a:t>
            </a:r>
            <a:endParaRPr lang="en-US" sz="1300" dirty="0"/>
          </a:p>
        </p:txBody>
      </p:sp>
      <p:sp>
        <p:nvSpPr>
          <p:cNvPr id="15" name="Text 11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Conclusão   ·   Relatório: Seção V.B</a:t>
            </a:r>
            <a:endParaRPr lang="en-US" sz="1000" dirty="0"/>
          </a:p>
        </p:txBody>
      </p:sp>
      <p:sp>
        <p:nvSpPr>
          <p:cNvPr id="16" name="Text 12"/>
          <p:cNvSpPr txBox="1"/>
          <p:nvPr/>
        </p:nvSpPr>
        <p:spPr>
          <a:xfrm>
            <a:off x="1118585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E3B4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600" b="1" dirty="0" err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Lições</a:t>
            </a: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sz="3600" b="1" dirty="0" err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Aprendidas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3840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Dados antes do modelo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99432" y="1120140"/>
            <a:ext cx="7040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Filtrar</a:t>
            </a: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5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inicialmente</a:t>
            </a: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5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já</a:t>
            </a: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com o </a:t>
            </a:r>
            <a:r>
              <a:rPr lang="en-US" sz="15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</a:t>
            </a: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5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definido</a:t>
            </a:r>
            <a:endParaRPr lang="en-US" sz="1500" dirty="0">
              <a:solidFill>
                <a:srgbClr val="FFFF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r>
              <a:rPr lang="en-US" sz="15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Necessidade</a:t>
            </a: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</a:t>
            </a:r>
            <a:r>
              <a:rPr lang="en-US" sz="15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tratar</a:t>
            </a: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5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anomalias</a:t>
            </a: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5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verificar</a:t>
            </a: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5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tendências</a:t>
            </a: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5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verificar</a:t>
            </a: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5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sazonalidades</a:t>
            </a: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 </a:t>
            </a:r>
            <a:r>
              <a:rPr lang="en-US" sz="15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aplicar</a:t>
            </a: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5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filtros</a:t>
            </a: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(IQR: o modelo aprende o que os dados contêm, então a qualidade do dado vem antes da escolha da </a:t>
            </a:r>
            <a:r>
              <a:rPr lang="en-US" sz="15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técnica</a:t>
            </a: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1933956"/>
            <a:ext cx="11091672" cy="0"/>
          </a:xfrm>
          <a:prstGeom prst="line">
            <a:avLst/>
          </a:prstGeom>
          <a:noFill/>
          <a:ln w="9525">
            <a:solidFill>
              <a:srgbClr val="2F5C6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 txBox="1"/>
          <p:nvPr/>
        </p:nvSpPr>
        <p:spPr>
          <a:xfrm>
            <a:off x="548640" y="1965960"/>
            <a:ext cx="3840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Janela </a:t>
            </a:r>
            <a:r>
              <a:rPr lang="en-US" sz="2100" b="1" dirty="0" err="1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curta</a:t>
            </a:r>
            <a:r>
              <a:rPr lang="en-US" sz="21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e atípica</a:t>
            </a:r>
            <a:endParaRPr lang="en-US" sz="2600" dirty="0"/>
          </a:p>
        </p:txBody>
      </p:sp>
      <p:sp>
        <p:nvSpPr>
          <p:cNvPr id="7" name="Text 5"/>
          <p:cNvSpPr txBox="1"/>
          <p:nvPr/>
        </p:nvSpPr>
        <p:spPr>
          <a:xfrm>
            <a:off x="4572000" y="1965960"/>
            <a:ext cx="7040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24 meses com ruptura (queda de 2025), o LSTM foi melhor: MAPE de 12,53% contra 16,48% do Holt-Winters.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48640" y="2711196"/>
            <a:ext cx="11091672" cy="0"/>
          </a:xfrm>
          <a:prstGeom prst="line">
            <a:avLst/>
          </a:prstGeom>
          <a:noFill/>
          <a:ln w="9525">
            <a:solidFill>
              <a:srgbClr val="2F5C6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 txBox="1"/>
          <p:nvPr/>
        </p:nvSpPr>
        <p:spPr>
          <a:xfrm>
            <a:off x="548640" y="2743200"/>
            <a:ext cx="3840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Janelas longas</a:t>
            </a:r>
            <a:endParaRPr lang="en-US" sz="2600" dirty="0"/>
          </a:p>
        </p:txBody>
      </p:sp>
      <p:sp>
        <p:nvSpPr>
          <p:cNvPr id="10" name="Text 8"/>
          <p:cNvSpPr txBox="1"/>
          <p:nvPr/>
        </p:nvSpPr>
        <p:spPr>
          <a:xfrm>
            <a:off x="4572000" y="2743200"/>
            <a:ext cx="7040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21 janelas anuais, com tendência e sazonalidade regulares, o Holt-Winters foi melhor: 9,01% contra 12,84% do LSTM (p = 0,002).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48640" y="3488436"/>
            <a:ext cx="11091672" cy="0"/>
          </a:xfrm>
          <a:prstGeom prst="line">
            <a:avLst/>
          </a:prstGeom>
          <a:noFill/>
          <a:ln w="9525">
            <a:solidFill>
              <a:srgbClr val="2F5C6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 txBox="1"/>
          <p:nvPr/>
        </p:nvSpPr>
        <p:spPr>
          <a:xfrm>
            <a:off x="548640" y="3520439"/>
            <a:ext cx="3840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Onde o LSTM ganha</a:t>
            </a:r>
            <a:endParaRPr lang="en-US" sz="2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0" y="3520439"/>
            <a:ext cx="7040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Nas rupturas: superou o Holt-Winters em 5 das 21 janelas, com </a:t>
            </a:r>
            <a:r>
              <a:rPr lang="en-US" sz="15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maior</a:t>
            </a: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5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expressividade</a:t>
            </a: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em 2020 (pandemia), 2024 e 2025.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48640" y="4265675"/>
            <a:ext cx="11091672" cy="0"/>
          </a:xfrm>
          <a:prstGeom prst="line">
            <a:avLst/>
          </a:prstGeom>
          <a:noFill/>
          <a:ln w="9525">
            <a:solidFill>
              <a:srgbClr val="2F5C6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5" name="Text 13"/>
          <p:cNvSpPr txBox="1"/>
          <p:nvPr/>
        </p:nvSpPr>
        <p:spPr>
          <a:xfrm>
            <a:off x="548640" y="4297680"/>
            <a:ext cx="3840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Onde conseguir mais</a:t>
            </a:r>
            <a:endParaRPr lang="en-US" sz="2600" dirty="0"/>
          </a:p>
        </p:txBody>
      </p:sp>
      <p:sp>
        <p:nvSpPr>
          <p:cNvPr id="16" name="Text 14"/>
          <p:cNvSpPr txBox="1"/>
          <p:nvPr/>
        </p:nvSpPr>
        <p:spPr>
          <a:xfrm>
            <a:off x="4572000" y="4297680"/>
            <a:ext cx="7040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Dados horários (medição inteligente) e </a:t>
            </a:r>
            <a:r>
              <a:rPr lang="en-US" sz="15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inserção</a:t>
            </a: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variáveis exógenas (temperatura, economia, geração distribuída, tarifas); ou combinar sazonalidade explícita com a rede.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6053328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CFE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Código, dados e relatório: github.com/dilsoneir-dev/Mercado_Energia_B3_Celesc</a:t>
            </a:r>
            <a:endParaRPr lang="en-US" sz="1400" dirty="0"/>
          </a:p>
        </p:txBody>
      </p:sp>
      <p:sp>
        <p:nvSpPr>
          <p:cNvPr id="18" name="Text 13"/>
          <p:cNvSpPr txBox="1"/>
          <p:nvPr/>
        </p:nvSpPr>
        <p:spPr>
          <a:xfrm>
            <a:off x="548640" y="5074920"/>
            <a:ext cx="3840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≈1.270 linhas</a:t>
            </a:r>
            <a:endParaRPr lang="en-US" sz="2600" dirty="0"/>
          </a:p>
        </p:txBody>
      </p:sp>
      <p:sp>
        <p:nvSpPr>
          <p:cNvPr id="19" name="Text 14"/>
          <p:cNvSpPr txBox="1"/>
          <p:nvPr/>
        </p:nvSpPr>
        <p:spPr>
          <a:xfrm>
            <a:off x="4572000" y="5074920"/>
            <a:ext cx="7040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esforço está em preparar dados e Validar. No final a rede LSTM </a:t>
            </a:r>
            <a:r>
              <a:rPr lang="en-US" sz="15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ocupou</a:t>
            </a: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6 linhas de código.</a:t>
            </a:r>
            <a:endParaRPr lang="en-US" sz="1600" dirty="0"/>
          </a:p>
        </p:txBody>
      </p:sp>
      <p:sp>
        <p:nvSpPr>
          <p:cNvPr id="20" name="Shape 12"/>
          <p:cNvSpPr/>
          <p:nvPr/>
        </p:nvSpPr>
        <p:spPr>
          <a:xfrm>
            <a:off x="548640" y="5042916"/>
            <a:ext cx="11091672" cy="0"/>
          </a:xfrm>
          <a:prstGeom prst="line">
            <a:avLst/>
          </a:prstGeom>
          <a:noFill/>
          <a:ln w="9525">
            <a:solidFill>
              <a:srgbClr val="2F5C6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02336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E3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Referências</a:t>
            </a:r>
            <a:endParaRPr lang="en-US" sz="2800" dirty="0"/>
          </a:p>
        </p:txBody>
      </p:sp>
      <p:sp>
        <p:nvSpPr>
          <p:cNvPr id="13" name="Text 10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Referências   ·   Numeração conforme o relatório</a:t>
            </a:r>
            <a:endParaRPr lang="en-US" sz="1000" dirty="0"/>
          </a:p>
        </p:txBody>
      </p:sp>
      <p:sp>
        <p:nvSpPr>
          <p:cNvPr id="14" name="Text 11"/>
          <p:cNvSpPr txBox="1"/>
          <p:nvPr/>
        </p:nvSpPr>
        <p:spPr>
          <a:xfrm>
            <a:off x="1118585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  <p:sp>
        <p:nvSpPr>
          <p:cNvPr id="15" name="Referencias"/>
          <p:cNvSpPr txBox="1"/>
          <p:nvPr/>
        </p:nvSpPr>
        <p:spPr>
          <a:xfrm>
            <a:off x="548640" y="1371600"/>
            <a:ext cx="11091672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457200" indent="-457200">
              <a:spcAft>
                <a:spcPts val="900"/>
              </a:spcAft>
              <a:buNone/>
            </a:pPr>
            <a:r>
              <a:rPr lang="en-US" sz="1300" i="0" dirty="0" b="1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[3] </a:t>
            </a:r>
            <a:r>
              <a:rPr lang="en-US" sz="1300" i="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CELESC DISTRIBUIÇÃO S.A. </a:t>
            </a:r>
            <a:r>
              <a:rPr lang="en-US" sz="1300" i="0" dirty="0" b="1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Dados de consumo</a:t>
            </a:r>
            <a:r>
              <a:rPr lang="en-US" sz="1300" i="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Florianópolis: CELESC, [2026]. Disponível em: https://www.celesc.com.br/home/mercado-de-energia/dados-de-consumo. Acesso em: 2 ago. 2026.</a:t>
            </a:r>
          </a:p>
          <a:p>
            <a:pPr marL="457200" indent="-457200">
              <a:spcAft>
                <a:spcPts val="900"/>
              </a:spcAft>
              <a:buNone/>
            </a:pPr>
            <a:r>
              <a:rPr lang="en-US" sz="1300" i="0" dirty="0" b="1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[4] </a:t>
            </a:r>
            <a:r>
              <a:rPr lang="en-US" sz="1300" i="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AGÊNCIA NACIONAL DE ENERGIA ELÉTRICA (ANEEL). </a:t>
            </a:r>
            <a:r>
              <a:rPr lang="en-US" sz="1300" i="0" dirty="0" b="1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Tarifas homologadas das distribuidoras de energia elétrica</a:t>
            </a:r>
            <a:r>
              <a:rPr lang="en-US" sz="1300" i="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Brasília, DF: ANEEL, [2026]. Disponível em: https://dadosabertos.aneel.gov.br/dataset/tarifas-distribuidoras-energia-eletrica. Acesso em: 7 set. 2026.</a:t>
            </a:r>
          </a:p>
          <a:p>
            <a:pPr marL="457200" indent="-457200">
              <a:spcAft>
                <a:spcPts val="900"/>
              </a:spcAft>
              <a:buNone/>
            </a:pPr>
            <a:r>
              <a:rPr lang="en-US" sz="1300" i="0" dirty="0" b="1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[5] </a:t>
            </a:r>
            <a:r>
              <a:rPr lang="en-US" sz="1300" i="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CÂMARA DE COMERCIALIZAÇÃO DE ENERGIA ELÉTRICA (CCEE). </a:t>
            </a:r>
            <a:r>
              <a:rPr lang="en-US" sz="1300" i="0" dirty="0" b="1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PLD médio semanal</a:t>
            </a:r>
            <a:r>
              <a:rPr lang="en-US" sz="1300" i="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São Paulo: CCEE, [2026]. Disponível em: https://dadosabertos.ccee.org.br/dataset/pld_media_semanal. Acesso em: 12 set. 2026.</a:t>
            </a:r>
          </a:p>
          <a:p>
            <a:pPr marL="457200" indent="-457200">
              <a:spcAft>
                <a:spcPts val="900"/>
              </a:spcAft>
              <a:buNone/>
            </a:pPr>
            <a:r>
              <a:rPr lang="en-US" sz="1300" i="0" dirty="0" b="1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[11] </a:t>
            </a:r>
            <a:r>
              <a:rPr lang="en-US" sz="1300" i="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CLEVELAND, R. B.; CLEVELAND, W. S.; McRAE, J. E.; TERPENNING, I. STL: a seasonal-trend decomposition procedure based on loess. </a:t>
            </a:r>
            <a:r>
              <a:rPr lang="en-US" sz="1300" i="0" dirty="0" b="1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Journal of Official Statistics</a:t>
            </a:r>
            <a:r>
              <a:rPr lang="en-US" sz="1300" i="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v. 6, n. 1, p. 3-73, 1990.</a:t>
            </a:r>
          </a:p>
          <a:p>
            <a:pPr marL="457200" indent="-457200">
              <a:spcAft>
                <a:spcPts val="900"/>
              </a:spcAft>
              <a:buNone/>
            </a:pPr>
            <a:r>
              <a:rPr lang="en-US" sz="1300" i="0" dirty="0" b="1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[12] </a:t>
            </a:r>
            <a:r>
              <a:rPr lang="en-US" sz="1300" i="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WILCOXON, F. Individual comparisons by ranking methods. </a:t>
            </a:r>
            <a:r>
              <a:rPr lang="en-US" sz="1300" i="0" dirty="0" b="1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Biometrics Bulletin</a:t>
            </a:r>
            <a:r>
              <a:rPr lang="en-US" sz="1300" i="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v. 1, n. 6, p. 80-83, 1945.</a:t>
            </a:r>
          </a:p>
          <a:p>
            <a:pPr marL="457200" indent="-457200">
              <a:spcAft>
                <a:spcPts val="900"/>
              </a:spcAft>
              <a:buNone/>
            </a:pPr>
            <a:r>
              <a:rPr lang="en-US" sz="1300" i="0" dirty="0" b="1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[13] </a:t>
            </a:r>
            <a:r>
              <a:rPr lang="en-US" sz="1300" i="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RIGOTTI, D. J. </a:t>
            </a:r>
            <a:r>
              <a:rPr lang="en-US" sz="1300" i="0" dirty="0" b="1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Mercado_Energia_B3_Celesc</a:t>
            </a:r>
            <a:r>
              <a:rPr lang="en-US" sz="1300" i="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[S. l.]: GitHub, 2026. Disponível em: https://github.com/dilsoneir-dev/Mercado_Energia_B3_Celesc. Acesso em: 27 set. 2026.</a:t>
            </a:r>
          </a:p>
        </p:txBody>
      </p:sp>
      <p:sp>
        <p:nvSpPr>
          <p:cNvPr id="16" name="Nota"/>
          <p:cNvSpPr txBox="1"/>
          <p:nvPr/>
        </p:nvSpPr>
        <p:spPr>
          <a:xfrm>
            <a:off x="548640" y="580644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i="1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Figuras e tabelas sem indicação de terceiros são de elaboração do autor, conforme o relatório (Relatorio_TecnicasIA_Dilsonei). A Fig. 1 é adaptada do material de aula da disciplina IAA68303 (Prof. Sérgio Luciano Ávila).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81</TotalTime>
  <Words>2693</Words>
  <Application>Microsoft Office PowerPoint</Application>
  <PresentationFormat>Widescreen</PresentationFormat>
  <Paragraphs>269</Paragraphs>
  <Slides>12</Slides>
  <Notes>12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Cambria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Análise de Dados com Uso de IA — Migração do Subgrupo B3 ao Mercado Livre</dc:title>
  <dc:subject>PptxGenJS Presentation</dc:subject>
  <dc:creator>Dilsonei José Rigotti</dc:creator>
  <cp:lastModifiedBy>Dilsonei Rigotti</cp:lastModifiedBy>
  <cp:revision>6</cp:revision>
  <dcterms:created xsi:type="dcterms:W3CDTF">2026-09-29T17:31:16Z</dcterms:created>
  <dcterms:modified xsi:type="dcterms:W3CDTF">2026-09-29T19:13:55Z</dcterms:modified>
</cp:coreProperties>
</file>