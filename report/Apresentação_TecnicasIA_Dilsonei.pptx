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2" r:id="rId5"/>
    <p:sldId id="261" r:id="rId6"/>
    <p:sldId id="264" r:id="rId7"/>
    <p:sldId id="266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B43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0E3B43"/>
                </a:solidFill>
                <a:latin typeface="Calibri"/>
              </a:rPr>
              <a:t>Validação walk-forward: MAPE médio em 21 janelas (2005–2025)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médio (%)</c:v>
                </c:pt>
              </c:strCache>
            </c:strRef>
          </c:tx>
          <c:spPr>
            <a:solidFill>
              <a:srgbClr val="2E7D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3D-48A4-9FD5-3EE4F24A08CC}"/>
              </c:ext>
            </c:extLst>
          </c:dPt>
          <c:dPt>
            <c:idx val="1"/>
            <c:invertIfNegative val="0"/>
            <c:bubble3D val="0"/>
            <c:spPr>
              <a:solidFill>
                <a:srgbClr val="7FB3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3D-48A4-9FD5-3EE4F24A08CC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3D-48A4-9FD5-3EE4F24A08CC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2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Holt-Winters</c:v>
                </c:pt>
                <c:pt idx="1">
                  <c:v>Gradient Boosting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9.01</c:v>
                </c:pt>
                <c:pt idx="1">
                  <c:v>10.19</c:v>
                </c:pt>
                <c:pt idx="2">
                  <c:v>12.84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D3D-48A4-9FD5-3EE4F24A08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9525" cap="flat">
              <a:solidFill>
                <a:srgbClr val="E3E9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B43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E3B43"/>
                </a:solidFill>
                <a:latin typeface="Calibri"/>
              </a:rPr>
              <a:t>Economia média do Livre frente ao Cativo (abr/2026–dez/2030)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Economia média (%)</c:v>
                </c:pt>
              </c:strCache>
            </c:strRef>
          </c:tx>
          <c:spPr>
            <a:solidFill>
              <a:srgbClr val="9FB7B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8D-4269-818C-867F037DA5D0}"/>
              </c:ext>
            </c:extLst>
          </c:dPt>
          <c:dPt>
            <c:idx val="1"/>
            <c:invertIfNegative val="0"/>
            <c:bubble3D val="0"/>
            <c:spPr>
              <a:solidFill>
                <a:srgbClr val="2E7D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8D-4269-818C-867F037DA5D0}"/>
              </c:ext>
            </c:extLst>
          </c:dPt>
          <c:dPt>
            <c:idx val="2"/>
            <c:invertIfNegative val="0"/>
            <c:bubble3D val="0"/>
            <c:spPr>
              <a:solidFill>
                <a:srgbClr val="0E3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8D-4269-818C-867F037DA5D0}"/>
              </c:ext>
            </c:extLst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8D-4269-818C-867F037DA5D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2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 encargos</c:v>
                </c:pt>
                <c:pt idx="1">
                  <c:v>Otimista</c:v>
                </c:pt>
                <c:pt idx="2">
                  <c:v>Base</c:v>
                </c:pt>
                <c:pt idx="3">
                  <c:v>Pessimista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24.8</c:v>
                </c:pt>
                <c:pt idx="1">
                  <c:v>19.7</c:v>
                </c:pt>
                <c:pt idx="2">
                  <c:v>15</c:v>
                </c:pt>
                <c:pt idx="3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8D-4269-818C-867F037DA5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3E9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47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trabalho final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principal é entender o esforço de trabalhar com dados e treinar redes neurais como o LSTM em bibliotecas existentes, como o TensorFlow. A migração do B3 é a aplicação: o caso que fornece os dados para trabalhar. O roteiro é o fluxo de séries temporais visto em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tem três partes. Primeiro, os dados de consumo da CELESC, até chegar ao B3 Cativo. Segundo, a rede neural, que avalia o perfil do consumo e o projeta até 2030. Terceiro, a análise econômica. Cada parte corresponde a notebooks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filtro IQR calcula o primeiro e o terceiro quartil do consumo por unidade consumidora e descarta o que passa de 1,5 vezes a amplitude interquartil, respeitando limites físicos de 100 a 3.000 kWh por UC por mês. A faixa efetiva ficou entre 100 e 1.484,5 kWh, e 5.409 registros foram removidos. Além do IQR, foram tratadas outras sete anomalias, todas documentadas.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tratar, a visualização mostrou que o B3 está dentro da classe Comercial, dividida em Cativo e Livre. O Livre cresce com a migração do Grupo A. O Cativo oscila por causa da crise de 2015 e 2016, da pandemia e do recuo recente, ligado à migração e à geração distribuída.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a série do B3 pronta, a pergunta agora é como será o consumo até 2030 e qual modelo é o mais adequado. A escolha do LSTM parte da hipótese de que fatores não lineares justificariam uma rede neural. O Gradient Boosting é a segunda técnica e o Holt-Winters é a referência estatística.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janela única, o LSTM teria vencido, mas esse período é atípico. Ao expandir para 21 janelas anuais, o modelo que ganhou na janela não foi o melhor: o Holt-Winters tem o menor erro médio e o LSTM é significativamente pior.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agora entram a ANEEL e a CCEE. A tarifa homologada da ANEEL precifica o mercado cativo, e o PLD da CCEE é a referência de preço do mercado livre. Os dois são combinados com o consumo previsto pela rede neural. Tarifa e PLD são estendidos até 2030 com premissas explícitas, que não são previsões oficiais.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com a energia, a economia média do Livre seria de 24,8%. Ao migrar, o consumidor deixa de pagar a TE, mas passa a pagar diretamente encargos que no cativo estão embutidos nela. Com eles, a economia cai para 19,7% no cenário otimista, 15,0% no base e 4,6% no pessimista.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histórica aplicou os encargos do cenário base a cada ano de 2011 a 2025. Um consumidor B3 exposto ao PLD teria pago mais que no cativo em 7 dos 15 anos, e o pior ano foi 2014. A vantagem projetada depende do regime hidrológico.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desempenho inferior do LSTM é coerente com a série: curta, com tendência e sazonalidade fortes. A rede neural segue promissora com dados de maior resolução, como os horários da medição inteligente, ou com variáveis exógenas, que ficam como trabalhos futuros.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principal aprendizado está no processo: a qualidade da modelagem depende do rigor do tratamento de dados, e o esforço de preparar e validar é muito maior que o de escrever a rede neural.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IAA68303 · Técnicas de Inteligência Artificial Aplicadas a Sistemas de Energia (2026.3)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Dados com Uso de Inteligência Artificial como Ferramenta de Apoio à Migração de Consumidores do Subgrupo B3 para o Mercado Livre de Energia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43434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Aluno: Dilsonei José Rigotti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Prof.: Sérgio Luciano Ávila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Profissional em Sistemas de Energia Elétrica (MPSEE) · IFSC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/ 2026’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trabalho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035040" cy="2509002"/>
          </a:xfrm>
          <a:prstGeom prst="roundRect">
            <a:avLst>
              <a:gd name="adj" fmla="val 266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7D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5486400" cy="213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entendimento sobre o esforço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just">
              <a:buNone/>
            </a:pPr>
            <a:endParaRPr lang="en-US" dirty="0">
              <a:solidFill>
                <a:srgbClr val="1F2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uso de arquiteturas de redes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neurais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desenvolvidas para criar, treinar e implantar modelos de Aprendizado de Máquina (Machine Learning) e Redes Neurais Profundas (Deep Learning).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4050791"/>
            <a:ext cx="6035040" cy="2136337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5486400" cy="1339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D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secundário: a </a:t>
            </a:r>
            <a:r>
              <a:rPr lang="en-US" sz="1400" b="1" dirty="0" err="1">
                <a:solidFill>
                  <a:srgbClr val="2E7D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400" b="1" dirty="0">
              <a:solidFill>
                <a:srgbClr val="2E7D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consumo do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B3 (cativo) da CELESC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2030,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cativo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ACL (Lei nº 15.269/2025,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nov/2027).</a:t>
            </a:r>
            <a:endParaRPr lang="en-US" dirty="0"/>
          </a:p>
        </p:txBody>
      </p:sp>
      <p:pic>
        <p:nvPicPr>
          <p:cNvPr id="8" name="Image 0" descr="img/flu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325880"/>
            <a:ext cx="4690872" cy="39593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949440" y="572899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</a:rPr>
              <a:t>Roteiro do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</a:rPr>
              <a:t>trabalho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Dados da CELESC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base bruta ao B3 Cativo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43400" y="1325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34340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Rede neural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previsão do consumo até 2030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0" y="1325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13816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migrar? Cativo x Livre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284633"/>
              </p:ext>
            </p:extLst>
          </p:nvPr>
        </p:nvGraphicFramePr>
        <p:xfrm>
          <a:off x="548640" y="2606040"/>
          <a:ext cx="11091672" cy="2633472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3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00_tratamento_dados_brutos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saneia os brutos; separa Cativo e Livre; exporta as séries tratadas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01_exploratorio_grupo_b_stl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 o Grupo B (B1, B2, B3) e o recorte no B3 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02_comparacao_modelos_b3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Janelamento; Holt-Winters, LSTM e Gradient Boosting; janela única e walk-forward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03_projecao_consumo_b3_2030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Decomposição STL do B3 e projeção do consumo com LSTM até 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04_analise_economica_migracao_acl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Simulação Cativo x Livre, encargos do mercado livre e riscos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31520" y="547268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731520" y="54726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5257800"/>
            <a:ext cx="10134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separar? 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consumo (Partes 1 e 2) não depende de tarifa nem de preço de mercado.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4185" y="6309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público: github.com/dilsoneir-dev/Mercado_Energia_B3_Celesc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· Tratamento: filtro IQR e anomalias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5.409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removidos pelo filtro IQR (trilha Cativo)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82,6%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linhas duplicadas na trilha Livre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IQR (amplitude interquartil)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 Q3 do consumo por UC; IQR = Q3 − Q1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Limites: Q1 − 1,5 × IQR e Q3 + 1,5 × IQR, restritos aos limites físicos de 100 a 3.000 kWh/UC/mês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efetiva: 100 a 1.484,5 kWh/UC/mês; o que ficou fora foi removido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363903"/>
              </p:ext>
            </p:extLst>
          </p:nvPr>
        </p:nvGraphicFramePr>
        <p:xfrm>
          <a:off x="6217920" y="1371600"/>
          <a:ext cx="5422392" cy="444398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Anomalia encontrada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aplicada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Mercados Cativo e Livre na mesma classe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trilhas separadas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82,6% de linhas duplicadas (Livre)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Remoção antes de agregar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UCs repetido em cada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valor por município e 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negativo e UCs 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Descarte e recálculo por 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Picos atípicos de consumo por 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IQR + limites físicos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Jan–nov/1994 sem nº de UCs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excluído e documentado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UCs fracionário (2025 em diante)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Arredondamento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Quedas artificiais de UCs em jan/fev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 contadas antes do 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Etapa 3 · Tratamento dos dados   ·   Relatório: Seção III.A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· base CELESC</a:t>
            </a:r>
            <a:endParaRPr lang="en-US" sz="2800" dirty="0"/>
          </a:p>
        </p:txBody>
      </p:sp>
      <p:pic>
        <p:nvPicPr>
          <p:cNvPr id="3" name="Image 0" descr="img/cativo_liv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468112" cy="31821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72200" y="449884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da classe Comercial em SC por tipo de contratação, 1994–2025 (GWh/ano).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31520" y="56784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731520" y="5678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553212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e FS mostram quão previsível é cada classe antes de escolher onde aplicar o modelo. Cativo e Livre são separados porque o B3 é 100% cativo até nov/2027: o trabalho segue na parcela comercial que permanece no Cativo.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Etapas 2 e 3 · Visualização e recorte   ·   Relatório: Seções I.B e III.C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B: tendência e sazonalidade (STL)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4965192" cy="155448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(Grupo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548640" y="3246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FT: força da tendência · FS: força da sazonalidade (0 a 1).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Comercial tem a maior tendência e sazonalidade do Grupo B; o B3 está dentro dele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base, o Comercial é dividido em Cativo e Livre; o Livre (Grupo A já migrado) cresce desde 2016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Cativo oscila: recessão de 2015–2016, pandemia em 2020 e recuo em 2024–2025 (migração ACL e MMGD)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A rede neural: escolha, treino e teste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1874519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5453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avaliada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recorrente (TensorFlow/Keras), feita para aprender dependências de longo prazo em sequências.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280160"/>
            <a:ext cx="3520440" cy="1874519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0" y="1417320"/>
            <a:ext cx="548640" cy="548640"/>
          </a:xfrm>
          <a:prstGeom prst="ellipse">
            <a:avLst/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5453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técnica de ML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árvores de decisão; não neural e de menor custo computacional.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38160" y="1280160"/>
            <a:ext cx="3520440" cy="1874519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366760" y="1417320"/>
            <a:ext cx="548640" cy="548640"/>
          </a:xfrm>
          <a:prstGeom prst="ellipse">
            <a:avLst/>
          </a:prstGeom>
          <a:solidFill>
            <a:srgbClr val="7FA7AD"/>
          </a:solidFill>
          <a:ln w="12700">
            <a:solidFill>
              <a:srgbClr val="7FA7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15453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Holt-Winters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90525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estatística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Suavização exponencial com tendência e sazonalidade: </a:t>
            </a:r>
            <a:r>
              <a:rPr lang="en-US" sz="13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clássico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7143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731520" y="55641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 txBox="1"/>
          <p:nvPr/>
        </p:nvSpPr>
        <p:spPr>
          <a:xfrm>
            <a:off x="731520" y="5564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325880" y="5257800"/>
            <a:ext cx="10131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uma rede neural?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consumo sofre fatores não lineares (crises, pandemia, migração, geração distribuída),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motivou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LSTM. O Gradient Boosting e o Holt-Winters servem de comparação. O teste usa os 24 meses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recentes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vistos no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medir o erro sem vazamento de dados.</a:t>
            </a:r>
          </a:p>
        </p:txBody>
      </p:sp>
      <p:sp>
        <p:nvSpPr>
          <p:cNvPr id="25" name="Text 2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Etapa 5 · Modelagem   ·   Relatório: Seções II e III.D a III.G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Shape 1"/>
          <p:cNvSpPr/>
          <p:nvPr/>
        </p:nvSpPr>
        <p:spPr>
          <a:xfrm>
            <a:off x="54864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"/>
          <p:cNvSpPr txBox="1"/>
          <p:nvPr/>
        </p:nvSpPr>
        <p:spPr>
          <a:xfrm>
            <a:off x="54864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500" dirty="0"/>
          </a:p>
        </p:txBody>
      </p:sp>
      <p:sp>
        <p:nvSpPr>
          <p:cNvPr id="33" name="Shape 3"/>
          <p:cNvSpPr/>
          <p:nvPr/>
        </p:nvSpPr>
        <p:spPr>
          <a:xfrm>
            <a:off x="1746504" y="3630168"/>
            <a:ext cx="219456" cy="237744"/>
          </a:xfrm>
          <a:prstGeom prst="rightArrow">
            <a:avLst/>
          </a:prstGeom>
          <a:solidFill>
            <a:srgbClr val="5B6B70"/>
          </a:solidFill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4"/>
          <p:cNvSpPr/>
          <p:nvPr/>
        </p:nvSpPr>
        <p:spPr>
          <a:xfrm>
            <a:off x="196596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5"/>
          <p:cNvSpPr txBox="1"/>
          <p:nvPr/>
        </p:nvSpPr>
        <p:spPr>
          <a:xfrm>
            <a:off x="196596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unidades</a:t>
            </a:r>
            <a:endParaRPr lang="en-US" sz="1500" dirty="0"/>
          </a:p>
        </p:txBody>
      </p:sp>
      <p:sp>
        <p:nvSpPr>
          <p:cNvPr id="36" name="Shape 6"/>
          <p:cNvSpPr/>
          <p:nvPr/>
        </p:nvSpPr>
        <p:spPr>
          <a:xfrm>
            <a:off x="3163824" y="3630168"/>
            <a:ext cx="219456" cy="237744"/>
          </a:xfrm>
          <a:prstGeom prst="rightArrow">
            <a:avLst/>
          </a:prstGeom>
          <a:solidFill>
            <a:srgbClr val="5B6B70"/>
          </a:solidFill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7"/>
          <p:cNvSpPr/>
          <p:nvPr/>
        </p:nvSpPr>
        <p:spPr>
          <a:xfrm>
            <a:off x="338328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8"/>
          <p:cNvSpPr txBox="1"/>
          <p:nvPr/>
        </p:nvSpPr>
        <p:spPr>
          <a:xfrm>
            <a:off x="338328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ReLU</a:t>
            </a:r>
            <a:endParaRPr lang="en-US" sz="1500" dirty="0"/>
          </a:p>
        </p:txBody>
      </p:sp>
      <p:sp>
        <p:nvSpPr>
          <p:cNvPr id="28" name="Shape 9"/>
          <p:cNvSpPr/>
          <p:nvPr/>
        </p:nvSpPr>
        <p:spPr>
          <a:xfrm>
            <a:off x="4581144" y="3630168"/>
            <a:ext cx="219456" cy="237744"/>
          </a:xfrm>
          <a:prstGeom prst="rightArrow">
            <a:avLst/>
          </a:prstGeom>
          <a:solidFill>
            <a:srgbClr val="5B6B70"/>
          </a:solidFill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10"/>
          <p:cNvSpPr/>
          <p:nvPr/>
        </p:nvSpPr>
        <p:spPr>
          <a:xfrm>
            <a:off x="480060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11"/>
          <p:cNvSpPr txBox="1"/>
          <p:nvPr/>
        </p:nvSpPr>
        <p:spPr>
          <a:xfrm>
            <a:off x="480060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mês</a:t>
            </a:r>
            <a:endParaRPr lang="en-US" sz="1500" dirty="0"/>
          </a:p>
        </p:txBody>
      </p:sp>
      <p:sp>
        <p:nvSpPr>
          <p:cNvPr id="38" name="Text 16"/>
          <p:cNvSpPr txBox="1"/>
          <p:nvPr/>
        </p:nvSpPr>
        <p:spPr>
          <a:xfrm>
            <a:off x="548640" y="42245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cronológico (376 meses): o teste são os meses mais recentes, que o modelo nunca viu</a:t>
            </a:r>
            <a:endParaRPr lang="en-US" sz="1400" dirty="0"/>
          </a:p>
        </p:txBody>
      </p:sp>
      <p:sp>
        <p:nvSpPr>
          <p:cNvPr id="39" name="Shape 17"/>
          <p:cNvSpPr/>
          <p:nvPr/>
        </p:nvSpPr>
        <p:spPr>
          <a:xfrm>
            <a:off x="548640" y="4526280"/>
            <a:ext cx="9675713" cy="292608"/>
          </a:xfrm>
          <a:prstGeom prst="rect">
            <a:avLst/>
          </a:prstGeom>
          <a:solidFill>
            <a:srgbClr val="2E7D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18"/>
          <p:cNvSpPr/>
          <p:nvPr/>
        </p:nvSpPr>
        <p:spPr>
          <a:xfrm>
            <a:off x="10224353" y="4526280"/>
            <a:ext cx="707979" cy="292608"/>
          </a:xfrm>
          <a:prstGeom prst="rect">
            <a:avLst/>
          </a:prstGeom>
          <a:solidFill>
            <a:srgbClr val="7FB3B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19"/>
          <p:cNvSpPr/>
          <p:nvPr/>
        </p:nvSpPr>
        <p:spPr>
          <a:xfrm>
            <a:off x="10932332" y="4526280"/>
            <a:ext cx="707979" cy="292608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20"/>
          <p:cNvSpPr txBox="1"/>
          <p:nvPr/>
        </p:nvSpPr>
        <p:spPr>
          <a:xfrm>
            <a:off x="548640" y="4846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328 meses (dez/1994–mar/2022)   ·   Validação: 24 meses (abr/2022–mar/2024, parada antecipada)   ·   Teste: 24 meses (abr/2024–mar/2026)</a:t>
            </a:r>
            <a:endParaRPr lang="en-US" sz="1400" dirty="0"/>
          </a:p>
        </p:txBody>
      </p:sp>
      <p:sp>
        <p:nvSpPr>
          <p:cNvPr id="43" name="TextBox 22"/>
          <p:cNvSpPr txBox="1"/>
          <p:nvPr/>
        </p:nvSpPr>
        <p:spPr>
          <a:xfrm>
            <a:off x="6263640" y="3410712"/>
            <a:ext cx="5376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>
                <a:solidFill>
                  <a:srgbClr val="1F2A2E"/>
                </a:solidFill>
                <a:latin typeface="Calibri"/>
              </a:rPr>
              <a:t>A rede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ocupa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6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linhas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código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(o pipeline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completo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tem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≈1.270). Adam (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lr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= 0,005) ·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perda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MSE · z-score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ajustado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só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no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treino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·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parada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antecipada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com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paciência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de 10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épocas</a:t>
            </a:r>
            <a:r>
              <a:rPr sz="1400" dirty="0">
                <a:solidFill>
                  <a:srgbClr val="1F2A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Avaliação e previsão do consumo até 2030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na janela única de teste (24 meses)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85816" cy="125577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percentual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raiz do erro quadrático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absoluto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63240"/>
            <a:ext cx="5394960" cy="1188720"/>
          </a:xfrm>
          <a:prstGeom prst="roundRect">
            <a:avLst>
              <a:gd name="adj" fmla="val 666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31520" y="343814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31520" y="3438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a janela única não basta? </a:t>
            </a: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LSTM teve o melhor resultado nela (12,53% contra 16,48% do Holt-Winters), mas ela cobre um único período, que coincide com a queda de 2025. Em 21 janelas anuais a comparação é mais robusta.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355080" y="1234440"/>
          <a:ext cx="53035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Etapa 6 · Avaliação   ·   Relatório: Seções IV.A a IV.C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3400"/>
            <a:ext cx="5029200" cy="1975104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6355080" y="43662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meses</a:t>
            </a:r>
            <a:endParaRPr lang="en-US" sz="3000" dirty="0"/>
          </a:p>
        </p:txBody>
      </p:sp>
      <p:sp>
        <p:nvSpPr>
          <p:cNvPr id="16" name="Text 3"/>
          <p:cNvSpPr txBox="1"/>
          <p:nvPr/>
        </p:nvSpPr>
        <p:spPr>
          <a:xfrm>
            <a:off x="6367368" y="483419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horizonte (abr/2026–dez/2030)</a:t>
            </a:r>
            <a:endParaRPr lang="en-US" sz="1200" dirty="0"/>
          </a:p>
        </p:txBody>
      </p:sp>
      <p:sp>
        <p:nvSpPr>
          <p:cNvPr id="17" name="Text 4"/>
          <p:cNvSpPr txBox="1"/>
          <p:nvPr/>
        </p:nvSpPr>
        <p:spPr>
          <a:xfrm>
            <a:off x="900684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 → 257</a:t>
            </a:r>
            <a:endParaRPr lang="en-US" sz="3000" dirty="0"/>
          </a:p>
        </p:txBody>
      </p:sp>
      <p:sp>
        <p:nvSpPr>
          <p:cNvPr id="18" name="Text 5"/>
          <p:cNvSpPr txBox="1"/>
          <p:nvPr/>
        </p:nvSpPr>
        <p:spPr>
          <a:xfrm>
            <a:off x="9019128" y="4780073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MWh/mês, média de 2027 a 2030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(2025: 251 mil)</a:t>
            </a:r>
            <a:endParaRPr lang="en-US" sz="1200" dirty="0"/>
          </a:p>
        </p:txBody>
      </p:sp>
      <p:sp>
        <p:nvSpPr>
          <p:cNvPr id="19" name="Shape 7"/>
          <p:cNvSpPr/>
          <p:nvPr/>
        </p:nvSpPr>
        <p:spPr>
          <a:xfrm>
            <a:off x="5852160" y="5349240"/>
            <a:ext cx="5788152" cy="960120"/>
          </a:xfrm>
          <a:prstGeom prst="roundRect">
            <a:avLst>
              <a:gd name="adj" fmla="val 10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8"/>
          <p:cNvSpPr/>
          <p:nvPr/>
        </p:nvSpPr>
        <p:spPr>
          <a:xfrm>
            <a:off x="6035040" y="560984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9"/>
          <p:cNvSpPr txBox="1"/>
          <p:nvPr/>
        </p:nvSpPr>
        <p:spPr>
          <a:xfrm>
            <a:off x="6035040" y="5609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10"/>
          <p:cNvSpPr txBox="1"/>
          <p:nvPr/>
        </p:nvSpPr>
        <p:spPr>
          <a:xfrm>
            <a:off x="6629400" y="53492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</a:t>
            </a:r>
            <a:r>
              <a:rPr lang="en-US" sz="12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relações não lineares e gera a projeção até dez/2030 (57 meses) no fluxo TensorFlow/Keras.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previsão reflete o platô recente, e a incerteza cresce em 2029–2030.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456432"/>
          <a:ext cx="5303520" cy="83210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Wilcoxon (21 janelas)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 × 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 × 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significativa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3 ·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econômica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327.493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homologadas de todas as distribuidoras do país (ANEEL)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anos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PLD semanal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submercado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(CCEE)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meses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consumo previsto (Parte 2) para multiplicar por preço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669339"/>
              </p:ext>
            </p:extLst>
          </p:nvPr>
        </p:nvGraphicFramePr>
        <p:xfrm>
          <a:off x="548640" y="2697480"/>
          <a:ext cx="11091672" cy="16642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na comparação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Extrapolação até 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do Cativo (TUSD + 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 CELESC, B3, modalidade Convencional, sem SCEE; vigências em meses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até ago/2027; depois +6% a.a.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PLD Sul: preço do Livre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Consolidar 7 arquivos, filtrar o Sul, médias mensais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até set/2026; depois média sazonal 2021–2026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4526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Cativo = consumo × (TUSD + TE)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= consumo × (TUSD + PLD Sul + encargos)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52578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31520" y="551840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731520" y="55184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11"/>
          <p:cNvSpPr txBox="1"/>
          <p:nvPr/>
        </p:nvSpPr>
        <p:spPr>
          <a:xfrm>
            <a:off x="1325880" y="52578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B3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caracterizado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projetado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PLDs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servem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precificar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custos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envolvidos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Cativo e o Livre.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   ·   Relatório: Seções I.B e IV.D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3 ·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incluir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os encargos?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8521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71600"/>
          <a:ext cx="4965192" cy="2633472"/>
        </p:xfrm>
        <a:graphic>
          <a:graphicData uri="http://schemas.openxmlformats.org/drawingml/2006/table">
            <a:tbl>
              <a:tblPr/>
              <a:tblGrid>
                <a:gridCol w="350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Encargo do mercado livre (cenário 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R$/MWh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 + EER + ERCAP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Comercializador varejista + CCEE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Prêmio de risco do contrato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Angra 1 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Perdas na rede básica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do preço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75120" y="411480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pessimista, o Livre é mais barato em 42 dos 57 meses; no base, em 55.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548640" y="52578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3"/>
          <p:cNvSpPr/>
          <p:nvPr/>
        </p:nvSpPr>
        <p:spPr>
          <a:xfrm>
            <a:off x="731520" y="551840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 txBox="1"/>
          <p:nvPr/>
        </p:nvSpPr>
        <p:spPr>
          <a:xfrm>
            <a:off x="731520" y="55184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52578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os encargos?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a energia, o Livre parece 24,8% mais barato. Ao migrar, o consumidor passa a pagar diretamente componentes que no Cativo estão embutidos na TE: com eles, a economia cai para 15,0% (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base) e 4,6% (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   ·   Relatório: Seções IV.E a IV.G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3 ·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o risco hidrológico</a:t>
            </a:r>
            <a:endParaRPr lang="en-US" sz="2800" dirty="0"/>
          </a:p>
        </p:txBody>
      </p:sp>
      <p:pic>
        <p:nvPicPr>
          <p:cNvPr id="3" name="Image 0" descr="img/histo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76656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12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anual de um consumidor B3 exposto ao PLD (2011–2025), cenário base com encargos.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463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de 15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103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em que o Livre teria sido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2926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−164%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ano: 2014 (PLD médio de R$ 654/MWh)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31520" y="570128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731520" y="5701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553212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validar?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projeção favorável pressupõe preços como os de 2021–2026.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ano seco inverte a vantagem: o benefício da migração depende do regime hidrológico.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   ·   Relatório: Seção IV.H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Conclusão: o que o LSTM entrega e onde tem limites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581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dependência temporal e relações não lineares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especificar antes a forma da tendência e da sazonalidade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variáveis exógenas: temperatura, atividade econômica, geração distribuída, tarifas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 séries longas e de alta resolução, como dados horários da medição inteligente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002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1581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Desvantagens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22402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muitos dados: a série tem só 376 meses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sensível a hiperparâmetros: dispersão do erro de 5,51 p.p., contra 3,27 p.p. do Holt-Winters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interpretabilidade e maior custo de treino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507492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731520" y="54498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731520" y="5449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5074920"/>
            <a:ext cx="10134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 pena? 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O foco é entender o esforço de trabalhar com dados e de treinar uma rede neural em bibliotecas existentes, e isso foi feito de ponta a ponta. A comparação mostrou onde o LSTM já é competitivo (série curta e de baixa resolução) e onde tende a render mais: dados horários e variáveis exógenas.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  ·   Relatório: Seção V.B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Lições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Aprendidas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antes do modelo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99432" y="112014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inicialmente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(IQR: o modelo aprende o que os dados contêm, então a qualidade do dado vem antes da escolha da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3395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</a:t>
            </a:r>
            <a:r>
              <a:rPr lang="en-US" sz="2100" b="1" dirty="0" err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curta</a:t>
            </a: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atípica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96596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24 meses com ruptura (queda de 2025), o LSTM foi melhor: MAPE de 12,53% contra 16,48% do Holt-Winters.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1119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Janelas longas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432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21 janelas anuais, com tendência e sazonalidade regulares, o Holt-Winters foi melhor: 9,01% contra 12,84% do LSTM (p = 0,002).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8843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48640" y="352043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LSTM ganha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39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rupturas: superou o Holt-Winters em 5 das 21 janelas, com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expressividade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2020 (pandemia), 2024 e 2025.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65675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conseguir mais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29768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horários (medição inteligente) 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variáveis exógenas (temperatura, economia, geração distribuída, tarifas); ou combinar sazonalidade explícita com a rede.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 e relatório: github.com/dilsoneir-dev/Mercado_Energia_B3_Celesc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749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≈1.270 linhas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507492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esforço está em preparar dados e Validar. No final a rede LSTM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ocupou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linhas de código.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48640" y="504291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2693</Words>
  <Application>Microsoft Office PowerPoint</Application>
  <PresentationFormat>Widescreen</PresentationFormat>
  <Paragraphs>269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Dados com Uso de IA — Migração do Subgrupo B3 ao Mercado Livre</dc:title>
  <dc:subject>PptxGenJS Presentation</dc:subject>
  <dc:creator>Dilsonei José Rigotti</dc:creator>
  <cp:lastModifiedBy>Dilsonei Rigotti</cp:lastModifiedBy>
  <cp:revision>6</cp:revision>
  <dcterms:created xsi:type="dcterms:W3CDTF">2026-09-29T17:31:16Z</dcterms:created>
  <dcterms:modified xsi:type="dcterms:W3CDTF">2026-09-29T19:13:55Z</dcterms:modified>
</cp:coreProperties>
</file>